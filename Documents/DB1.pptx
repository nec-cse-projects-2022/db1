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9"/>
  </p:handoutMasterIdLst>
  <p:sldIdLst>
    <p:sldId id="258" r:id="rId3"/>
    <p:sldId id="260" r:id="rId5"/>
    <p:sldId id="262" r:id="rId6"/>
    <p:sldId id="279" r:id="rId7"/>
    <p:sldId id="263" r:id="rId8"/>
    <p:sldId id="265" r:id="rId9"/>
    <p:sldId id="270" r:id="rId10"/>
    <p:sldId id="266" r:id="rId11"/>
    <p:sldId id="268" r:id="rId12"/>
    <p:sldId id="269" r:id="rId13"/>
    <p:sldId id="271" r:id="rId14"/>
    <p:sldId id="290" r:id="rId15"/>
    <p:sldId id="281" r:id="rId16"/>
    <p:sldId id="284" r:id="rId17"/>
    <p:sldId id="285" r:id="rId18"/>
    <p:sldId id="287" r:id="rId19"/>
    <p:sldId id="288" r:id="rId20"/>
    <p:sldId id="291" r:id="rId21"/>
    <p:sldId id="292" r:id="rId22"/>
    <p:sldId id="272" r:id="rId23"/>
    <p:sldId id="289" r:id="rId24"/>
    <p:sldId id="273" r:id="rId25"/>
    <p:sldId id="278" r:id="rId26"/>
    <p:sldId id="280" r:id="rId27"/>
    <p:sldId id="27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fld>
            <a:endParaRPr lang="en-IN"/>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5E58F0A-825B-43EC-9CD7-118F126DA1B6}"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624C803B-62AD-4010-AEFB-D9AF802A6496}"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92EF212-5EE0-4AA8-AA52-1AD4716B5520}"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0D477AD5-9516-4803-9B8F-64EFE6B04E97}" type="datetime1">
              <a:rPr lang="en-IN" smtClean="0"/>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2FEC19F5-3ACF-4602-91F2-584ADA347226}" type="datetime1">
              <a:rPr lang="en-IN" smtClean="0"/>
            </a:fld>
            <a:endParaRPr lang="en-IN"/>
          </a:p>
        </p:txBody>
      </p:sp>
      <p:sp>
        <p:nvSpPr>
          <p:cNvPr id="8" name="Footer Placeholder 7"/>
          <p:cNvSpPr>
            <a:spLocks noGrp="1"/>
          </p:cNvSpPr>
          <p:nvPr>
            <p:ph type="ftr" sz="quarter" idx="11"/>
          </p:nvPr>
        </p:nvSpPr>
        <p:spPr/>
        <p:txBody>
          <a:bodyPr/>
          <a:lstStyle/>
          <a:p>
            <a:r>
              <a:rPr lang="en-US"/>
              <a:t>Review No.         Batch No.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F932DEC-E61F-415A-BB11-622ACF22FA82}" type="datetime1">
              <a:rPr lang="en-IN" smtClean="0"/>
            </a:fld>
            <a:endParaRPr lang="en-IN"/>
          </a:p>
        </p:txBody>
      </p:sp>
      <p:sp>
        <p:nvSpPr>
          <p:cNvPr id="4" name="Footer Placeholder 3"/>
          <p:cNvSpPr>
            <a:spLocks noGrp="1"/>
          </p:cNvSpPr>
          <p:nvPr>
            <p:ph type="ftr" sz="quarter" idx="11"/>
          </p:nvPr>
        </p:nvSpPr>
        <p:spPr/>
        <p:txBody>
          <a:bodyPr/>
          <a:lstStyle/>
          <a:p>
            <a:r>
              <a:rPr lang="en-US"/>
              <a:t>Review No.         Batch No.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96EEC6-0141-45B7-8835-252B848F88BA}" type="datetime1">
              <a:rPr lang="en-IN" smtClean="0"/>
            </a:fld>
            <a:endParaRPr lang="en-IN"/>
          </a:p>
        </p:txBody>
      </p:sp>
      <p:sp>
        <p:nvSpPr>
          <p:cNvPr id="3" name="Footer Placeholder 2"/>
          <p:cNvSpPr>
            <a:spLocks noGrp="1"/>
          </p:cNvSpPr>
          <p:nvPr>
            <p:ph type="ftr" sz="quarter" idx="11"/>
          </p:nvPr>
        </p:nvSpPr>
        <p:spPr/>
        <p:txBody>
          <a:bodyPr/>
          <a:lstStyle/>
          <a:p>
            <a:r>
              <a:rPr lang="en-US"/>
              <a:t>Review No.         Batch No.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C53116E-6FF0-4C6D-8DFD-00263320DEBD}" type="datetime1">
              <a:rPr lang="en-IN" smtClean="0"/>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FB6E4B8-84AF-4AF2-B62C-BFAB3810F0B1}" type="datetime1">
              <a:rPr lang="en-IN" smtClean="0"/>
            </a:fld>
            <a:endParaRPr lang="en-IN"/>
          </a:p>
        </p:txBody>
      </p:sp>
      <p:sp>
        <p:nvSpPr>
          <p:cNvPr id="6" name="Footer Placeholder 5"/>
          <p:cNvSpPr>
            <a:spLocks noGrp="1"/>
          </p:cNvSpPr>
          <p:nvPr>
            <p:ph type="ftr" sz="quarter" idx="11"/>
          </p:nvPr>
        </p:nvSpPr>
        <p:spPr/>
        <p:txBody>
          <a:bodyPr/>
          <a:lstStyle/>
          <a:p>
            <a:r>
              <a:rPr lang="en-US"/>
              <a:t>Review No.         Batch No.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9F6D04C-3771-42DE-9B65-7B6404FB4859}"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96B51216-7DD8-4439-BE7B-781B8BCB2E48}" type="datetime1">
              <a:rPr lang="en-IN" smtClean="0"/>
            </a:fld>
            <a:endParaRPr lang="en-IN"/>
          </a:p>
        </p:txBody>
      </p:sp>
      <p:sp>
        <p:nvSpPr>
          <p:cNvPr id="5" name="Footer Placeholder 4"/>
          <p:cNvSpPr>
            <a:spLocks noGrp="1"/>
          </p:cNvSpPr>
          <p:nvPr>
            <p:ph type="ftr" sz="quarter" idx="11"/>
          </p:nvPr>
        </p:nvSpPr>
        <p:spPr/>
        <p:txBody>
          <a:bodyPr/>
          <a:lstStyle/>
          <a:p>
            <a:r>
              <a:rPr lang="en-US"/>
              <a:t>Review No.         Batch No.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797CF1-9FF6-48D4-89E7-B1B5528DDDD6}"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Batch No.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r>
              <a:rPr lang="en-US" b="1" dirty="0">
                <a:latin typeface="Times New Roman" panose="02020603050405020304" pitchFamily="18" charset="0"/>
                <a:cs typeface="Times New Roman" panose="02020603050405020304" pitchFamily="18" charset="0"/>
              </a:rPr>
              <a:t>Department of Computer Science and Engineering</a:t>
            </a:r>
            <a:endParaRPr lang="en-US" b="1" dirty="0">
              <a:latin typeface="Times New Roman" panose="02020603050405020304" pitchFamily="18" charset="0"/>
              <a:cs typeface="Times New Roman" panose="02020603050405020304" pitchFamily="18" charset="0"/>
            </a:endParaRPr>
          </a:p>
          <a:p>
            <a:pPr algn="ctr">
              <a:spcBef>
                <a:spcPct val="20000"/>
              </a:spcBef>
              <a:defRPr/>
            </a:pPr>
            <a:r>
              <a:rPr lang="en-US" altLang="en-US" sz="24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Learning Ridge Structures: Adaptive CNN-Based Local Orientation and Frequency Estimation for Fingerprints</a:t>
            </a:r>
            <a:endParaRPr lang="en-US" altLang="en-US" sz="24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p>
            <a:pPr lvl="0" algn="ctr">
              <a:spcBef>
                <a:spcPct val="20000"/>
              </a:spcBef>
              <a:defRPr/>
            </a:pPr>
            <a:endPar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6" name="Subtitle 2"/>
          <p:cNvSpPr>
            <a:spLocks noGrp="1"/>
          </p:cNvSpPr>
          <p:nvPr>
            <p:ph type="subTitle" idx="1"/>
          </p:nvPr>
        </p:nvSpPr>
        <p:spPr>
          <a:xfrm>
            <a:off x="1881450" y="1968030"/>
            <a:ext cx="9144000" cy="1603428"/>
          </a:xfrm>
        </p:spPr>
        <p:txBody>
          <a:bodyPr>
            <a:normAutofit lnSpcReduction="20000"/>
          </a:bodyPr>
          <a:lstStyle/>
          <a:p>
            <a:pPr eaLnBrk="1" hangingPunct="1"/>
            <a:r>
              <a:rPr lang="en-US" altLang="en-US" sz="1600" dirty="0">
                <a:solidFill>
                  <a:schemeClr val="tx1"/>
                </a:solidFill>
                <a:latin typeface="Times New Roman" panose="02020603050405020304" pitchFamily="18" charset="0"/>
                <a:cs typeface="Times New Roman" panose="02020603050405020304" pitchFamily="18" charset="0"/>
              </a:rPr>
              <a:t>PRESENTED BY</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eaLnBrk="1" hangingPunct="1"/>
            <a:r>
              <a:rPr lang="en-US" altLang="en-US" sz="1600" dirty="0">
                <a:solidFill>
                  <a:schemeClr val="tx1"/>
                </a:solidFill>
                <a:latin typeface="Times New Roman" panose="02020603050405020304" pitchFamily="18" charset="0"/>
                <a:cs typeface="Times New Roman" panose="02020603050405020304" pitchFamily="18" charset="0"/>
              </a:rPr>
              <a:t>		Atmakuri Jashwanth		   	(</a:t>
            </a:r>
            <a:r>
              <a:rPr lang="en-US" altLang="en-US" sz="1600" dirty="0">
                <a:latin typeface="Times New Roman" panose="02020603050405020304" pitchFamily="18" charset="0"/>
                <a:cs typeface="Times New Roman" panose="02020603050405020304" pitchFamily="18" charset="0"/>
              </a:rPr>
              <a:t>2</a:t>
            </a:r>
            <a:r>
              <a:rPr lang="en-IN" altLang="en-US" sz="1600" dirty="0">
                <a:latin typeface="Times New Roman" panose="02020603050405020304" pitchFamily="18" charset="0"/>
                <a:cs typeface="Times New Roman" panose="02020603050405020304" pitchFamily="18" charset="0"/>
              </a:rPr>
              <a:t>2471A05L3</a:t>
            </a:r>
            <a:r>
              <a:rPr lang="en-US" altLang="en-US" sz="1600" dirty="0">
                <a:solidFill>
                  <a:schemeClr val="tx1"/>
                </a:solidFill>
                <a:latin typeface="Times New Roman" panose="02020603050405020304" pitchFamily="18" charset="0"/>
                <a:cs typeface="Times New Roman" panose="02020603050405020304" pitchFamily="18" charset="0"/>
              </a:rPr>
              <a:t>)</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a:r>
              <a:rPr lang="en-US" altLang="en-US" sz="1600" dirty="0">
                <a:solidFill>
                  <a:schemeClr val="tx1"/>
                </a:solidFill>
                <a:latin typeface="Times New Roman" panose="02020603050405020304" pitchFamily="18" charset="0"/>
                <a:cs typeface="Times New Roman" panose="02020603050405020304" pitchFamily="18" charset="0"/>
              </a:rPr>
              <a:t>		Shaik Inkollu Farzan Basha		(</a:t>
            </a:r>
            <a:r>
              <a:rPr lang="en-US" altLang="en-US" sz="1600" dirty="0">
                <a:latin typeface="Times New Roman" panose="02020603050405020304" pitchFamily="18" charset="0"/>
                <a:cs typeface="Times New Roman" panose="02020603050405020304" pitchFamily="18" charset="0"/>
              </a:rPr>
              <a:t>2</a:t>
            </a:r>
            <a:r>
              <a:rPr lang="en-IN" altLang="en-US" sz="1600" dirty="0">
                <a:latin typeface="Times New Roman" panose="02020603050405020304" pitchFamily="18" charset="0"/>
                <a:cs typeface="Times New Roman" panose="02020603050405020304" pitchFamily="18" charset="0"/>
              </a:rPr>
              <a:t>2471A05P1</a:t>
            </a:r>
            <a:r>
              <a:rPr lang="en-US" altLang="en-US" sz="1600" dirty="0">
                <a:solidFill>
                  <a:schemeClr val="tx1"/>
                </a:solidFill>
                <a:latin typeface="Times New Roman" panose="02020603050405020304" pitchFamily="18" charset="0"/>
                <a:cs typeface="Times New Roman" panose="02020603050405020304" pitchFamily="18" charset="0"/>
              </a:rPr>
              <a:t>) </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a:r>
              <a:rPr lang="en-US" altLang="en-US" sz="1600" dirty="0">
                <a:solidFill>
                  <a:schemeClr val="tx1"/>
                </a:solidFill>
                <a:latin typeface="Times New Roman" panose="02020603050405020304" pitchFamily="18" charset="0"/>
                <a:cs typeface="Times New Roman" panose="02020603050405020304" pitchFamily="18" charset="0"/>
              </a:rPr>
              <a:t>		Yalagala Leela krishna	   	(</a:t>
            </a:r>
            <a:r>
              <a:rPr lang="en-US" altLang="en-US" sz="1600" dirty="0">
                <a:latin typeface="Times New Roman" panose="02020603050405020304" pitchFamily="18" charset="0"/>
                <a:cs typeface="Times New Roman" panose="02020603050405020304" pitchFamily="18" charset="0"/>
              </a:rPr>
              <a:t>2</a:t>
            </a:r>
            <a:r>
              <a:rPr lang="en-IN" altLang="en-US" sz="1600" dirty="0">
                <a:latin typeface="Times New Roman" panose="02020603050405020304" pitchFamily="18" charset="0"/>
                <a:cs typeface="Times New Roman" panose="02020603050405020304" pitchFamily="18" charset="0"/>
              </a:rPr>
              <a:t>2471A05P2</a:t>
            </a:r>
            <a:r>
              <a:rPr lang="en-US" altLang="en-US" sz="1600" dirty="0">
                <a:solidFill>
                  <a:schemeClr val="tx1"/>
                </a:solidFill>
                <a:latin typeface="Times New Roman" panose="02020603050405020304" pitchFamily="18" charset="0"/>
                <a:cs typeface="Times New Roman" panose="02020603050405020304" pitchFamily="18" charset="0"/>
              </a:rPr>
              <a:t>) 	</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a:r>
              <a:rPr lang="en-US" altLang="en-US" sz="1600" dirty="0">
                <a:solidFill>
                  <a:schemeClr val="tx1"/>
                </a:solidFill>
                <a:latin typeface="Times New Roman" panose="02020603050405020304" pitchFamily="18" charset="0"/>
                <a:cs typeface="Times New Roman" panose="02020603050405020304" pitchFamily="18" charset="0"/>
              </a:rPr>
              <a:t>                   	</a:t>
            </a:r>
            <a:endParaRPr lang="en-US" altLang="en-US" sz="1600" dirty="0">
              <a:solidFill>
                <a:schemeClr val="tx1"/>
              </a:solidFill>
              <a:latin typeface="Times New Roman" panose="02020603050405020304" pitchFamily="18" charset="0"/>
              <a:cs typeface="Times New Roman" panose="02020603050405020304" pitchFamily="18" charset="0"/>
            </a:endParaRPr>
          </a:p>
          <a:p>
            <a:pPr algn="l"/>
            <a:endParaRPr lang="en-US" altLang="en-US" sz="1600" dirty="0">
              <a:solidFill>
                <a:schemeClr val="tx1"/>
              </a:solidFill>
              <a:latin typeface="Times New Roman" panose="02020603050405020304" pitchFamily="18" charset="0"/>
              <a:cs typeface="Times New Roman" panose="02020603050405020304" pitchFamily="18" charset="0"/>
            </a:endParaRPr>
          </a:p>
        </p:txBody>
      </p:sp>
      <p:sp>
        <p:nvSpPr>
          <p:cNvPr id="17" name="Subtitle 2"/>
          <p:cNvSpPr txBox="1"/>
          <p:nvPr/>
        </p:nvSpPr>
        <p:spPr bwMode="auto">
          <a:xfrm>
            <a:off x="2782854" y="3571458"/>
            <a:ext cx="6858000" cy="2288429"/>
          </a:xfrm>
          <a:prstGeom prst="rect">
            <a:avLst/>
          </a:prstGeom>
          <a:noFill/>
          <a:ln w="9525">
            <a:noFill/>
            <a:miter lim="800000"/>
          </a:ln>
        </p:spPr>
        <p:txBody>
          <a:bodyPr/>
          <a:lstStyle/>
          <a:p>
            <a:pPr algn="ctr" eaLnBrk="1" hangingPunct="1">
              <a:spcBef>
                <a:spcPct val="20000"/>
              </a:spcBef>
              <a:buFont typeface="Wingdings" panose="05000000000000000000" pitchFamily="2" charset="2"/>
              <a:buNone/>
            </a:pPr>
            <a:r>
              <a:rPr lang="en-US" altLang="en-US" dirty="0">
                <a:solidFill>
                  <a:srgbClr val="006600"/>
                </a:solidFill>
                <a:latin typeface="Times New Roman" panose="02020603050405020304" pitchFamily="18" charset="0"/>
                <a:cs typeface="Times New Roman" panose="02020603050405020304" pitchFamily="18" charset="0"/>
              </a:rPr>
              <a:t>Under the Guidance of,</a:t>
            </a:r>
            <a:endParaRPr lang="en-US" altLang="en-US" b="1" dirty="0">
              <a:solidFill>
                <a:srgbClr val="006600"/>
              </a:solidFill>
              <a:latin typeface="Times New Roman" panose="02020603050405020304" pitchFamily="18" charset="0"/>
              <a:cs typeface="Times New Roman" panose="02020603050405020304" pitchFamily="18" charset="0"/>
            </a:endParaRPr>
          </a:p>
          <a:p>
            <a:pPr algn="ctr" eaLnBrk="1" hangingPunct="1">
              <a:spcBef>
                <a:spcPct val="20000"/>
              </a:spcBef>
              <a:buFont typeface="Wingdings" panose="05000000000000000000" pitchFamily="2" charset="2"/>
              <a:buNone/>
            </a:pPr>
            <a:endParaRPr lang="en-US" altLang="en-US" sz="900" b="1" dirty="0">
              <a:solidFill>
                <a:schemeClr val="bg1"/>
              </a:solidFill>
              <a:latin typeface="Times New Roman" panose="02020603050405020304" pitchFamily="18" charset="0"/>
              <a:cs typeface="Times New Roman" panose="02020603050405020304" pitchFamily="18" charset="0"/>
            </a:endParaRPr>
          </a:p>
          <a:p>
            <a:pPr algn="ctr">
              <a:spcBef>
                <a:spcPct val="20000"/>
              </a:spcBef>
            </a:pPr>
            <a:r>
              <a:rPr lang="en-US" sz="1600" b="1" dirty="0">
                <a:latin typeface="Times New Roman" panose="02020603050405020304" pitchFamily="18" charset="0"/>
                <a:cs typeface="Times New Roman" panose="02020603050405020304" pitchFamily="18" charset="0"/>
              </a:rPr>
              <a:t> S</a:t>
            </a:r>
            <a:r>
              <a:rPr lang="en-IN" altLang="en-US" sz="1600" b="1" dirty="0">
                <a:latin typeface="Times New Roman" panose="02020603050405020304" pitchFamily="18" charset="0"/>
                <a:cs typeface="Times New Roman" panose="02020603050405020304" pitchFamily="18" charset="0"/>
              </a:rPr>
              <a:t>yed Rizwana</a:t>
            </a:r>
            <a:r>
              <a:rPr lang="en-US" sz="1600" b="1" baseline="-25000" dirty="0">
                <a:latin typeface="Times New Roman" panose="02020603050405020304" pitchFamily="18" charset="0"/>
                <a:cs typeface="Times New Roman" panose="02020603050405020304" pitchFamily="18" charset="0"/>
              </a:rPr>
              <a:t> </a:t>
            </a:r>
            <a:r>
              <a:rPr lang="en-IN" altLang="en-US" sz="1600" b="1" baseline="-25000" dirty="0" err="1">
                <a:latin typeface="Times New Roman" panose="02020603050405020304" pitchFamily="18" charset="0"/>
                <a:cs typeface="Times New Roman" panose="02020603050405020304" pitchFamily="18" charset="0"/>
              </a:rPr>
              <a:t>M.Tech, </a:t>
            </a:r>
            <a:r>
              <a:rPr lang="en-US" altLang="en-IN" sz="1600" b="1" baseline="-25000" dirty="0" err="1">
                <a:latin typeface="Times New Roman" panose="02020603050405020304" pitchFamily="18" charset="0"/>
                <a:cs typeface="Times New Roman" panose="02020603050405020304" pitchFamily="18" charset="0"/>
              </a:rPr>
              <a:t>(</a:t>
            </a:r>
            <a:r>
              <a:rPr lang="en-US" sz="1600" b="1" baseline="-25000" dirty="0" err="1">
                <a:latin typeface="Times New Roman" panose="02020603050405020304" pitchFamily="18" charset="0"/>
                <a:cs typeface="Times New Roman" panose="02020603050405020304" pitchFamily="18" charset="0"/>
                <a:sym typeface="+mn-ea"/>
              </a:rPr>
              <a:t>Ph.D)</a:t>
            </a:r>
            <a:endParaRPr lang="en-IN" sz="1600" dirty="0">
              <a:latin typeface="Times New Roman" panose="02020603050405020304" pitchFamily="18" charset="0"/>
              <a:cs typeface="Times New Roman" panose="02020603050405020304" pitchFamily="18" charset="0"/>
            </a:endParaRPr>
          </a:p>
          <a:p>
            <a:pPr algn="ctr" eaLnBrk="1" hangingPunct="1">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Ass</a:t>
            </a:r>
            <a:r>
              <a:rPr lang="en-IN" altLang="en-US" sz="1600" dirty="0">
                <a:latin typeface="Times New Roman" panose="02020603050405020304" pitchFamily="18" charset="0"/>
                <a:cs typeface="Times New Roman" panose="02020603050405020304" pitchFamily="18" charset="0"/>
              </a:rPr>
              <a:t>istant</a:t>
            </a:r>
            <a:r>
              <a:rPr lang="en-US" altLang="en-US" sz="1600" dirty="0">
                <a:latin typeface="Times New Roman" panose="02020603050405020304" pitchFamily="18" charset="0"/>
                <a:cs typeface="Times New Roman" panose="02020603050405020304" pitchFamily="18" charset="0"/>
              </a:rPr>
              <a:t> Professor,</a:t>
            </a:r>
            <a:endParaRPr lang="en-US" altLang="en-US" sz="1600" dirty="0">
              <a:latin typeface="Times New Roman" panose="02020603050405020304" pitchFamily="18" charset="0"/>
              <a:cs typeface="Times New Roman" panose="02020603050405020304" pitchFamily="18" charset="0"/>
            </a:endParaRP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Department of Computer Science and Engineering,</a:t>
            </a:r>
            <a:endParaRPr lang="en-US" altLang="en-US" sz="1600" dirty="0">
              <a:latin typeface="Times New Roman" panose="02020603050405020304" pitchFamily="18" charset="0"/>
              <a:cs typeface="Times New Roman" panose="02020603050405020304" pitchFamily="18" charset="0"/>
            </a:endParaRP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Narasaraopeta Engineering College (Autonomous),</a:t>
            </a:r>
            <a:endParaRPr lang="en-US" altLang="en-US" sz="1600" dirty="0">
              <a:latin typeface="Times New Roman" panose="02020603050405020304" pitchFamily="18" charset="0"/>
              <a:cs typeface="Times New Roman" panose="02020603050405020304" pitchFamily="18" charset="0"/>
            </a:endParaRPr>
          </a:p>
          <a:p>
            <a:pPr algn="ctr" eaLnBrk="1" hangingPunct="1">
              <a:lnSpc>
                <a:spcPct val="150000"/>
              </a:lnSpc>
              <a:spcBef>
                <a:spcPct val="20000"/>
              </a:spcBef>
              <a:buFont typeface="Wingdings" panose="05000000000000000000" pitchFamily="2" charset="2"/>
              <a:buNone/>
            </a:pPr>
            <a:r>
              <a:rPr lang="en-US" altLang="en-US" sz="1600" dirty="0">
                <a:latin typeface="Times New Roman" panose="02020603050405020304" pitchFamily="18" charset="0"/>
                <a:cs typeface="Times New Roman" panose="02020603050405020304" pitchFamily="18" charset="0"/>
              </a:rPr>
              <a:t>Narasaraopet- 522601.</a:t>
            </a:r>
            <a:endParaRPr lang="en-US" altLang="en-US" sz="16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0" y="90674"/>
            <a:ext cx="3762900" cy="579027"/>
          </a:xfrm>
          <a:prstGeom prst="rect">
            <a:avLst/>
          </a:prstGeom>
        </p:spPr>
      </p:pic>
      <p:sp>
        <p:nvSpPr>
          <p:cNvPr id="20" name="Date Placeholder 4"/>
          <p:cNvSpPr>
            <a:spLocks noGrp="1"/>
          </p:cNvSpPr>
          <p:nvPr>
            <p:ph type="dt" sz="half" idx="10"/>
          </p:nvPr>
        </p:nvSpPr>
        <p:spPr>
          <a:xfrm>
            <a:off x="838200" y="6356350"/>
            <a:ext cx="2743200" cy="365125"/>
          </a:xfrm>
        </p:spPr>
        <p:txBody>
          <a:bodyPr/>
          <a:lstStyle/>
          <a:p>
            <a:r>
              <a:rPr lang="en-IN" altLang="en-US">
                <a:latin typeface="Times New Roman" panose="02020603050405020304" pitchFamily="18" charset="0"/>
                <a:cs typeface="Times New Roman" panose="02020603050405020304" pitchFamily="18" charset="0"/>
              </a:rPr>
              <a:t>05/12/2025</a:t>
            </a:r>
            <a:endParaRPr lang="en-IN" altLang="en-US">
              <a:latin typeface="Times New Roman" panose="02020603050405020304" pitchFamily="18" charset="0"/>
              <a:cs typeface="Times New Roman" panose="02020603050405020304" pitchFamily="18" charset="0"/>
            </a:endParaRPr>
          </a:p>
        </p:txBody>
      </p:sp>
      <p:sp>
        <p:nvSpPr>
          <p:cNvPr id="21" name="Footer Placeholder 5"/>
          <p:cNvSpPr>
            <a:spLocks noGrp="1"/>
          </p:cNvSpPr>
          <p:nvPr>
            <p:ph type="ftr" sz="quarter" idx="11"/>
          </p:nvPr>
        </p:nvSpPr>
        <p:spPr>
          <a:xfrm>
            <a:off x="4038600" y="6356350"/>
            <a:ext cx="4114800" cy="365125"/>
          </a:xfrm>
        </p:spPr>
        <p:txBody>
          <a:bodyPr/>
          <a:lstStyle/>
          <a:p>
            <a:r>
              <a:rPr lang="en-US" dirty="0">
                <a:latin typeface="Times New Roman" panose="02020603050405020304" pitchFamily="18" charset="0"/>
                <a:cs typeface="Times New Roman" panose="02020603050405020304" pitchFamily="18" charset="0"/>
              </a:rPr>
              <a:t>Review No.2         Batch No.</a:t>
            </a:r>
            <a:r>
              <a:rPr lang="en-IN" altLang="en-US" dirty="0">
                <a:latin typeface="Times New Roman" panose="02020603050405020304" pitchFamily="18" charset="0"/>
                <a:cs typeface="Times New Roman" panose="02020603050405020304" pitchFamily="18" charset="0"/>
              </a:rPr>
              <a:t>D</a:t>
            </a:r>
            <a:r>
              <a:rPr lang="en-US" dirty="0">
                <a:latin typeface="Times New Roman" panose="02020603050405020304" pitchFamily="18" charset="0"/>
                <a:cs typeface="Times New Roman" panose="02020603050405020304" pitchFamily="18" charset="0"/>
              </a:rPr>
              <a:t>B</a:t>
            </a:r>
            <a:r>
              <a:rPr lang="en-IN" altLang="en-US"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Department of CSE</a:t>
            </a:r>
            <a:endParaRPr lang="en-US" dirty="0">
              <a:latin typeface="Times New Roman" panose="02020603050405020304" pitchFamily="18" charset="0"/>
              <a:cs typeface="Times New Roman" panose="02020603050405020304" pitchFamily="18" charset="0"/>
            </a:endParaRPr>
          </a:p>
        </p:txBody>
      </p:sp>
      <p:sp>
        <p:nvSpPr>
          <p:cNvPr id="23" name="Slide Number Placeholder 6"/>
          <p:cNvSpPr>
            <a:spLocks noGrp="1"/>
          </p:cNvSpPr>
          <p:nvPr>
            <p:ph type="sldNum" sz="quarter" idx="12"/>
          </p:nvPr>
        </p:nvSpPr>
        <p:spPr>
          <a:xfrm>
            <a:off x="8610600" y="6356350"/>
            <a:ext cx="2743200" cy="365125"/>
          </a:xfrm>
        </p:spPr>
        <p:txBody>
          <a:bodyPr/>
          <a:lstStyle/>
          <a:p>
            <a:r>
              <a:rPr lang="en-IN" altLang="en-US" dirty="0">
                <a:latin typeface="Times New Roman" panose="02020603050405020304" pitchFamily="18" charset="0"/>
                <a:cs typeface="Times New Roman" panose="02020603050405020304" pitchFamily="18" charset="0"/>
              </a:rPr>
              <a:t>1</a:t>
            </a:r>
            <a:endParaRPr lang="en-I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 OUTLINE</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274193"/>
            <a:ext cx="10515600" cy="4683829"/>
          </a:xfrm>
        </p:spPr>
        <p:txBody>
          <a:bodyPr>
            <a:normAutofit fontScale="82500" lnSpcReduction="20000"/>
          </a:bodyPr>
          <a:lstStyle/>
          <a:p>
            <a:pPr>
              <a:buFont typeface="Wingdings" panose="05000000000000000000" charset="0"/>
              <a:buChar char="Ø"/>
            </a:pPr>
            <a:r>
              <a:rPr lang="en-US"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Introduction </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Research Gaps</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Objectives </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dirty="0">
                <a:latin typeface="Times New Roman" panose="02020603050405020304" pitchFamily="18" charset="0"/>
                <a:cs typeface="Times New Roman" panose="02020603050405020304" pitchFamily="18" charset="0"/>
              </a:rPr>
              <a:t> Block Diagram / Flow Diagram</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dirty="0">
                <a:latin typeface="Times New Roman" panose="02020603050405020304" pitchFamily="18" charset="0"/>
                <a:cs typeface="Times New Roman" panose="02020603050405020304" pitchFamily="18" charset="0"/>
              </a:rPr>
              <a:t> Implementation</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Results and Analysis</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alt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Conclusion &amp; Future Scope</a:t>
            </a:r>
            <a:endParaRPr lang="en-IN"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US" dirty="0">
                <a:latin typeface="Times New Roman" panose="02020603050405020304" pitchFamily="18" charset="0"/>
                <a:cs typeface="Times New Roman" panose="02020603050405020304" pitchFamily="18" charset="0"/>
              </a:rPr>
              <a:t> References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IN" altLang="en-US" dirty="0">
                <a:latin typeface="Times New Roman" panose="02020603050405020304" pitchFamily="18" charset="0"/>
                <a:cs typeface="Times New Roman" panose="02020603050405020304" pitchFamily="18" charset="0"/>
              </a:rPr>
              <a:t>10/11/2025</a:t>
            </a:r>
            <a:endParaRPr lang="en-IN" alt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493134"/>
            <a:ext cx="10515600" cy="4351338"/>
          </a:xfrm>
        </p:spPr>
        <p:txBody>
          <a:bodyPr>
            <a:normAutofit fontScale="90000" lnSpcReduction="10000"/>
          </a:bodyPr>
          <a:lstStyle/>
          <a:p>
            <a:pPr marL="0" indent="0" algn="just">
              <a:lnSpc>
                <a:spcPct val="150000"/>
              </a:lnSpc>
              <a:buFont typeface="Wingdings" panose="05000000000000000000" pitchFamily="2" charset="2"/>
              <a:buNone/>
            </a:pPr>
            <a:r>
              <a:rPr lang="en-US" altLang="en-US" sz="1800" dirty="0">
                <a:latin typeface="Times New Roman" panose="02020603050405020304" pitchFamily="18" charset="0"/>
                <a:cs typeface="Times New Roman" panose="02020603050405020304" pitchFamily="18" charset="0"/>
              </a:rPr>
              <a:t>Fingerprint identification is one of the most well-understood and widely used biometric methods for identifying individuals, relying on the accurate identification of ridge structures in fingerprint images. There has been significant work to date on estimating ridge information (i.e., orientation) in fingerprint images. However, estimating ridge quantity (i.e., ridge frequency) presents challenges, especially for noisy or low-quality images. In this work, we propose an end-to-end solution using Convolutional Neural Networks (CNNs) to simultaneously estimate both ridge frequency and ridge orientation from fingerprint images. The proposed method includes preliminary processing to extract the fingerprint area from an image and orientation encoding to facilitate the network’s learning process. The system has been trained with enhanced data and dense pixel-wise supervision to enhance noise and low contrast robustness. The system was evaluated on a typical fingerprint dataset and it yielded a mean absolute percentage error (MAPE) of 4.58 for frequency estimation leading to a substantial improvement over traditional image processing methodology. Additionally, this method is easily adaptable to real-time implementations. In this work, we illustrate how combining domain knowledge with modern machine learning approaches can lead to better accuracy and overall reliability in fingerprint analysis.</a:t>
            </a:r>
            <a:endParaRPr lang="en-US" altLang="en-US" sz="18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a:xfrm>
            <a:off x="838200" y="6487160"/>
            <a:ext cx="2743200" cy="234315"/>
          </a:xfrm>
        </p:spPr>
        <p:txBody>
          <a:bodyPr/>
          <a:lstStyle/>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INTRODUCTION</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492885"/>
            <a:ext cx="10974070" cy="4351655"/>
          </a:xfrm>
        </p:spPr>
        <p:txBody>
          <a:bodyPr>
            <a:normAutofit fontScale="90000"/>
          </a:bodyPr>
          <a:lstStyle/>
          <a:p>
            <a:pPr algn="just">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Fingerprint recognition is a widely used and reliable biometric</a:t>
            </a:r>
            <a:r>
              <a:rPr lang="en-US" altLang="en-US" sz="2200" dirty="0">
                <a:latin typeface="Times New Roman" panose="02020603050405020304" pitchFamily="18" charset="0"/>
                <a:ea typeface="Arial" panose="020B0604020202020204"/>
                <a:sym typeface="+mn-ea"/>
              </a:rPr>
              <a:t> technique due</a:t>
            </a:r>
            <a:r>
              <a:rPr lang="en-IN" altLang="en-US" sz="2200"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to its uniqueness</a:t>
            </a:r>
            <a:endParaRPr lang="en-US" altLang="en-US" sz="2200" dirty="0">
              <a:latin typeface="Times New Roman" panose="02020603050405020304" pitchFamily="18" charset="0"/>
              <a:ea typeface="Arial" panose="020B0604020202020204"/>
            </a:endParaRPr>
          </a:p>
          <a:p>
            <a:pPr marL="0" indent="0" algn="just">
              <a:buClrTx/>
              <a:buFont typeface="Wingdings" panose="05000000000000000000" pitchFamily="2" charset="2"/>
              <a:buNone/>
            </a:pPr>
            <a:r>
              <a:rPr lang="en-IN" altLang="en-US" sz="2200" dirty="0">
                <a:latin typeface="Times New Roman" panose="02020603050405020304" pitchFamily="18" charset="0"/>
                <a:ea typeface="Arial" panose="020B0604020202020204"/>
                <a:sym typeface="+mn-ea"/>
              </a:rPr>
              <a:t>   </a:t>
            </a:r>
            <a:r>
              <a:rPr lang="en-US" altLang="en-IN" sz="2200"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and</a:t>
            </a:r>
            <a:r>
              <a:rPr lang="en-IN" altLang="en-US" sz="2200"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permanence.</a:t>
            </a:r>
            <a:endParaRPr lang="en-US" altLang="en-US" sz="2200" dirty="0">
              <a:latin typeface="Times New Roman" panose="02020603050405020304" pitchFamily="18" charset="0"/>
              <a:ea typeface="Arial" panose="020B0604020202020204"/>
            </a:endParaRPr>
          </a:p>
          <a:p>
            <a:pPr algn="just">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Key structural features: Ridge Orientation and Ridge Frequency  essential for enhancement, </a:t>
            </a:r>
            <a:r>
              <a:rPr lang="en-IN" altLang="en-US" sz="2200" dirty="0">
                <a:latin typeface="Times New Roman" panose="02020603050405020304" pitchFamily="18" charset="0"/>
                <a:ea typeface="Arial" panose="020B0604020202020204"/>
                <a:sym typeface="+mn-ea"/>
              </a:rPr>
              <a:t> </a:t>
            </a:r>
            <a:endParaRPr lang="en-IN" altLang="en-US" sz="2200" dirty="0">
              <a:latin typeface="Times New Roman" panose="02020603050405020304" pitchFamily="18" charset="0"/>
              <a:ea typeface="Arial" panose="020B0604020202020204"/>
            </a:endParaRPr>
          </a:p>
          <a:p>
            <a:pPr marL="0" indent="0" algn="just">
              <a:buClrTx/>
              <a:buFont typeface="Wingdings" panose="05000000000000000000" pitchFamily="2" charset="2"/>
              <a:buNone/>
            </a:pPr>
            <a:r>
              <a:rPr lang="en-IN" altLang="en-US" sz="2200" dirty="0">
                <a:latin typeface="Times New Roman" panose="02020603050405020304" pitchFamily="18" charset="0"/>
                <a:ea typeface="Arial" panose="020B0604020202020204"/>
                <a:sym typeface="+mn-ea"/>
              </a:rPr>
              <a:t>   </a:t>
            </a:r>
            <a:r>
              <a:rPr lang="en-US" altLang="en-IN" sz="2200"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minutiae extraction, and matching.</a:t>
            </a:r>
            <a:endParaRPr lang="en-US" altLang="en-US" sz="2200" dirty="0">
              <a:latin typeface="Times New Roman" panose="02020603050405020304" pitchFamily="18" charset="0"/>
              <a:ea typeface="Arial" panose="020B0604020202020204"/>
            </a:endParaRPr>
          </a:p>
          <a:p>
            <a:pPr algn="just">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Traditional methods (gradient &amp; Fourier-based) perform well on clean images but fail on noisy </a:t>
            </a:r>
            <a:endParaRPr lang="en-US" altLang="en-US" sz="2200" dirty="0">
              <a:latin typeface="Times New Roman" panose="02020603050405020304" pitchFamily="18" charset="0"/>
              <a:ea typeface="Arial" panose="020B0604020202020204"/>
            </a:endParaRPr>
          </a:p>
          <a:p>
            <a:pPr marL="0" indent="0" algn="just">
              <a:buClrTx/>
              <a:buFont typeface="Wingdings" panose="05000000000000000000" pitchFamily="2" charset="2"/>
              <a:buNone/>
            </a:pPr>
            <a:r>
              <a:rPr lang="en-IN" altLang="en-US" sz="2200" dirty="0">
                <a:latin typeface="Times New Roman" panose="02020603050405020304" pitchFamily="18" charset="0"/>
                <a:ea typeface="Arial" panose="020B0604020202020204"/>
                <a:sym typeface="+mn-ea"/>
              </a:rPr>
              <a:t>   </a:t>
            </a:r>
            <a:r>
              <a:rPr lang="en-US" altLang="en-IN" sz="2200"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or</a:t>
            </a:r>
            <a:r>
              <a:rPr lang="en-IN" altLang="en-US" sz="2200"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low-quality fingerprints.</a:t>
            </a:r>
            <a:endParaRPr lang="en-US" altLang="en-US" sz="2200" dirty="0">
              <a:latin typeface="Times New Roman" panose="02020603050405020304" pitchFamily="18" charset="0"/>
              <a:ea typeface="Arial" panose="020B0604020202020204"/>
            </a:endParaRPr>
          </a:p>
          <a:p>
            <a:pPr algn="just">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Adaptive CNN-based model proposed to jointly estimate ridge orientation and frequency directly</a:t>
            </a:r>
            <a:endParaRPr lang="en-US" altLang="en-US" sz="2200" dirty="0">
              <a:latin typeface="Times New Roman" panose="02020603050405020304" pitchFamily="18" charset="0"/>
              <a:ea typeface="Arial" panose="020B0604020202020204"/>
            </a:endParaRPr>
          </a:p>
          <a:p>
            <a:pPr marL="0" indent="0" algn="just">
              <a:buClrTx/>
              <a:buFont typeface="Wingdings" panose="05000000000000000000" pitchFamily="2" charset="2"/>
              <a:buNone/>
            </a:pPr>
            <a:r>
              <a:rPr lang="en-IN" altLang="en-US" sz="2200" dirty="0">
                <a:latin typeface="Times New Roman" panose="02020603050405020304" pitchFamily="18" charset="0"/>
                <a:ea typeface="Arial" panose="020B0604020202020204"/>
                <a:sym typeface="+mn-ea"/>
              </a:rPr>
              <a:t>   </a:t>
            </a:r>
            <a:r>
              <a:rPr lang="en-US" altLang="en-IN" sz="2200"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from raw images.</a:t>
            </a:r>
            <a:endParaRPr lang="en-US" altLang="en-US" sz="2200" dirty="0">
              <a:latin typeface="Times New Roman" panose="02020603050405020304" pitchFamily="18" charset="0"/>
              <a:ea typeface="Arial" panose="020B0604020202020204"/>
            </a:endParaRPr>
          </a:p>
          <a:p>
            <a:pPr algn="just">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Model includes XSFFE(</a:t>
            </a:r>
            <a:r>
              <a:rPr lang="en-US" altLang="en-US" sz="2200">
                <a:latin typeface="Times New Roman" panose="02020603050405020304" pitchFamily="18" charset="0"/>
                <a:cs typeface="Times New Roman" panose="02020603050405020304" pitchFamily="18" charset="0"/>
                <a:sym typeface="+mn-ea"/>
              </a:rPr>
              <a:t>Extended Synthetic Fingerprint Feature Extraction</a:t>
            </a:r>
            <a:r>
              <a:rPr lang="en-US" altLang="en-US" sz="2200" b="1">
                <a:latin typeface="Times New Roman" panose="02020603050405020304" pitchFamily="18" charset="0"/>
                <a:cs typeface="Times New Roman" panose="02020603050405020304" pitchFamily="18" charset="0"/>
                <a:sym typeface="+mn-ea"/>
              </a:rPr>
              <a:t>) </a:t>
            </a:r>
            <a:r>
              <a:rPr lang="en-US" altLang="en-US" sz="2200" dirty="0">
                <a:latin typeface="Times New Roman" panose="02020603050405020304" pitchFamily="18" charset="0"/>
                <a:ea typeface="Arial" panose="020B0604020202020204"/>
                <a:sym typeface="+mn-ea"/>
              </a:rPr>
              <a:t>and </a:t>
            </a:r>
            <a:r>
              <a:rPr lang="en-US" altLang="en-US" sz="2200" dirty="0">
                <a:latin typeface="Times New Roman" panose="02020603050405020304" pitchFamily="18" charset="0"/>
                <a:ea typeface="Arial" panose="020B0604020202020204"/>
                <a:sym typeface="+mn-ea"/>
              </a:rPr>
              <a:t>SNFFE (</a:t>
            </a:r>
            <a:r>
              <a:rPr lang="en-US" altLang="en-US" sz="2200">
                <a:latin typeface="Times New Roman" panose="02020603050405020304" pitchFamily="18" charset="0"/>
                <a:cs typeface="Times New Roman" panose="02020603050405020304" pitchFamily="18" charset="0"/>
                <a:sym typeface="+mn-ea"/>
              </a:rPr>
              <a:t>Synthetic Normalized Fingerprint Feature Extraction) </a:t>
            </a:r>
            <a:r>
              <a:rPr lang="en-US" altLang="en-US" sz="2200" dirty="0">
                <a:latin typeface="Times New Roman" panose="02020603050405020304" pitchFamily="18" charset="0"/>
                <a:ea typeface="Arial" panose="020B0604020202020204"/>
                <a:sym typeface="+mn-ea"/>
              </a:rPr>
              <a:t>preprocessing for noise reduction, normalization, and data consistency.</a:t>
            </a:r>
            <a:endParaRPr lang="en-US" altLang="en-US" sz="2200" dirty="0">
              <a:latin typeface="Times New Roman" panose="02020603050405020304" pitchFamily="18" charset="0"/>
              <a:ea typeface="Arial" panose="020B0604020202020204"/>
            </a:endParaRPr>
          </a:p>
          <a:p>
            <a:pPr algn="just">
              <a:buClrTx/>
              <a:buFont typeface="Wingdings" panose="05000000000000000000" pitchFamily="2" charset="2"/>
            </a:pPr>
            <a:endParaRPr lang="en-US" altLang="en-US" sz="2200" dirty="0">
              <a:latin typeface="Times New Roman" panose="02020603050405020304" pitchFamily="18" charset="0"/>
              <a:ea typeface="Arial" panose="020B0604020202020204"/>
            </a:endParaRPr>
          </a:p>
          <a:p>
            <a:pPr algn="just">
              <a:buFont typeface="Wingdings" panose="05000000000000000000" pitchFamily="2" charset="2"/>
              <a:buChar char="ü"/>
            </a:pPr>
            <a:endParaRPr lang="en-US" sz="22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6"/>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a:xfrm>
            <a:off x="838200" y="6544945"/>
            <a:ext cx="2743200" cy="176530"/>
          </a:xfrm>
        </p:spPr>
        <p:txBody>
          <a:bodyPr/>
          <a:lstStyle/>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0" name="Content Placeholder 8"/>
          <p:cNvSpPr txBox="1"/>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graphicFrame>
        <p:nvGraphicFramePr>
          <p:cNvPr id="3" name="Table 3"/>
          <p:cNvGraphicFramePr>
            <a:graphicFrameLocks noGrp="1"/>
          </p:cNvGraphicFramePr>
          <p:nvPr>
            <p:custDataLst>
              <p:tags r:id="rId1"/>
            </p:custDataLst>
          </p:nvPr>
        </p:nvGraphicFramePr>
        <p:xfrm>
          <a:off x="685800" y="927100"/>
          <a:ext cx="10820400" cy="5516880"/>
        </p:xfrm>
        <a:graphic>
          <a:graphicData uri="http://schemas.openxmlformats.org/drawingml/2006/table">
            <a:tbl>
              <a:tblPr firstRow="1" bandRow="1">
                <a:tableStyleId>{17292A2E-F333-43FB-9621-5CBBE7FDCDCB}</a:tableStyleId>
              </a:tblPr>
              <a:tblGrid>
                <a:gridCol w="608330"/>
                <a:gridCol w="1943100"/>
                <a:gridCol w="1431290"/>
                <a:gridCol w="1859280"/>
                <a:gridCol w="1886585"/>
                <a:gridCol w="1546225"/>
                <a:gridCol w="1545590"/>
              </a:tblGrid>
              <a:tr h="579120">
                <a:tc>
                  <a:txBody>
                    <a:bodyPr/>
                    <a:lstStyle/>
                    <a:p>
                      <a:pPr algn="ctr"/>
                      <a:r>
                        <a:rPr lang="en-US" sz="1600" dirty="0">
                          <a:solidFill>
                            <a:schemeClr val="tx1"/>
                          </a:solidFill>
                        </a:rPr>
                        <a:t>No</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Author</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URL Link</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Gaps</a:t>
                      </a: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81100">
                <a:tc>
                  <a:txBody>
                    <a:bodyPr/>
                    <a:lstStyle/>
                    <a:p>
                      <a:r>
                        <a:rPr lang="en-US" sz="1400" dirty="0"/>
                        <a:t>1</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en-US" sz="1400" dirty="0">
                          <a:latin typeface="Times New Roman" panose="02020603050405020304" pitchFamily="18" charset="0"/>
                          <a:cs typeface="Times New Roman" panose="02020603050405020304" pitchFamily="18" charset="0"/>
                        </a:rPr>
                        <a:t>No Feature Left Behind: Filling the Gap in</a:t>
                      </a:r>
                      <a:endParaRPr lang="en-US" altLang="en-US" sz="1400" dirty="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defRPr/>
                      </a:pPr>
                      <a:r>
                        <a:rPr lang="en-US" altLang="en-US" sz="1400" dirty="0">
                          <a:latin typeface="Times New Roman" panose="02020603050405020304" pitchFamily="18" charset="0"/>
                          <a:cs typeface="Times New Roman" panose="02020603050405020304" pitchFamily="18" charset="0"/>
                        </a:rPr>
                        <a:t>Fingerprint Frequency Estimation</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latin typeface="Times New Roman" panose="02020603050405020304" pitchFamily="18" charset="0"/>
                          <a:cs typeface="Times New Roman" panose="02020603050405020304" pitchFamily="18" charset="0"/>
                        </a:rPr>
                        <a:t>Raffaele Cappelli.</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latin typeface="Times New Roman" panose="02020603050405020304" pitchFamily="18" charset="0"/>
                          <a:cs typeface="Times New Roman" panose="02020603050405020304" pitchFamily="18" charset="0"/>
                        </a:rPr>
                        <a:t>https://ieeexplore.ieee.org/document/10719986</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en-US" sz="1400" b="0" dirty="0">
                          <a:latin typeface="Times New Roman" panose="02020603050405020304" pitchFamily="18" charset="0"/>
                          <a:cs typeface="Times New Roman" panose="02020603050405020304" pitchFamily="18" charset="0"/>
                        </a:rPr>
                        <a:t>The paper proposes a comprehensive fingerprint frequency estimation  all ridge features</a:t>
                      </a:r>
                      <a:r>
                        <a:rPr lang="en-IN" altLang="en-US" sz="1400" b="0" dirty="0">
                          <a:latin typeface="Times New Roman" panose="02020603050405020304" pitchFamily="18" charset="0"/>
                          <a:cs typeface="Times New Roman" panose="02020603050405020304" pitchFamily="18" charset="0"/>
                        </a:rPr>
                        <a:t>.</a:t>
                      </a:r>
                      <a:endParaRPr lang="en-IN"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latin typeface="Times New Roman" panose="02020603050405020304" pitchFamily="18" charset="0"/>
                          <a:cs typeface="Times New Roman" panose="02020603050405020304" pitchFamily="18" charset="0"/>
                        </a:rPr>
                        <a:t>1.Introduction of the first publicly available</a:t>
                      </a:r>
                      <a:r>
                        <a:rPr lang="en-IN" altLang="en-US" sz="1400" dirty="0">
                          <a:latin typeface="Times New Roman" panose="02020603050405020304" pitchFamily="18" charset="0"/>
                          <a:cs typeface="Times New Roman" panose="02020603050405020304" pitchFamily="18" charset="0"/>
                        </a:rPr>
                        <a:t> </a:t>
                      </a:r>
                      <a:r>
                        <a:rPr lang="en-US" altLang="en-US" sz="1400" dirty="0">
                          <a:latin typeface="Times New Roman" panose="02020603050405020304" pitchFamily="18" charset="0"/>
                          <a:cs typeface="Times New Roman" panose="02020603050405020304" pitchFamily="18" charset="0"/>
                        </a:rPr>
                        <a:t>benchmark (FFE benchmark)</a:t>
                      </a:r>
                      <a:endParaRPr lang="en-US" alt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400" b="0" dirty="0">
                          <a:latin typeface="Times New Roman" panose="02020603050405020304" pitchFamily="18" charset="0"/>
                          <a:cs typeface="Times New Roman" panose="02020603050405020304" pitchFamily="18" charset="0"/>
                        </a:rPr>
                        <a:t>Existing fingerprint frequency estimation methods </a:t>
                      </a:r>
                      <a:r>
                        <a:rPr lang="en-IN" altLang="en-US" sz="1400" b="0" dirty="0">
                          <a:latin typeface="Times New Roman" panose="02020603050405020304" pitchFamily="18" charset="0"/>
                          <a:cs typeface="Times New Roman" panose="02020603050405020304" pitchFamily="18" charset="0"/>
                        </a:rPr>
                        <a:t>.</a:t>
                      </a:r>
                      <a:endParaRPr lang="en-US" altLang="en-US" sz="1400" b="0" dirty="0">
                        <a:latin typeface="Times New Roman" panose="02020603050405020304" pitchFamily="18" charset="0"/>
                        <a:cs typeface="Times New Roman" panose="02020603050405020304" pitchFamily="18" charset="0"/>
                      </a:endParaRPr>
                    </a:p>
                    <a:p>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44880">
                <a:tc>
                  <a:txBody>
                    <a:bodyPr/>
                    <a:lstStyle/>
                    <a:p>
                      <a:r>
                        <a:rPr lang="en-US" sz="1400" dirty="0"/>
                        <a:t>2</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IN" sz="1400" b="0" i="0">
                          <a:solidFill>
                            <a:srgbClr val="000000"/>
                          </a:solidFill>
                          <a:latin typeface="Times New Roman" panose="02020603050405020304"/>
                          <a:ea typeface="Times New Roman" panose="02020603050405020304"/>
                        </a:rPr>
                        <a:t>  </a:t>
                      </a:r>
                      <a:r>
                        <a:rPr sz="1400">
                          <a:solidFill>
                            <a:srgbClr val="000000"/>
                          </a:solidFill>
                          <a:latin typeface="Times New Roman" panose="02020603050405020304"/>
                          <a:ea typeface="Times New Roman" panose="02020603050405020304"/>
                          <a:sym typeface="+mn-ea"/>
                        </a:rPr>
                        <a:t>Latent fingerprint enhancement for accurate minutiae detection</a:t>
                      </a:r>
                      <a:endParaRPr sz="1400" b="0" i="0">
                        <a:solidFill>
                          <a:srgbClr val="000000"/>
                        </a:solidFill>
                        <a:latin typeface="Times New Roman" panose="02020603050405020304"/>
                        <a:ea typeface="Times New Roman" panose="02020603050405020304"/>
                      </a:endParaRPr>
                    </a:p>
                    <a:p>
                      <a:pPr algn="l" fontAlgn="ctr"/>
                      <a:endParaRPr lang="en-IN" sz="1400" b="0" i="0">
                        <a:solidFill>
                          <a:srgbClr val="000000"/>
                        </a:solidFill>
                        <a:latin typeface="Times New Roman" panose="02020603050405020304"/>
                        <a:ea typeface="Times New Roman" panose="02020603050405020304"/>
                      </a:endParaRPr>
                    </a:p>
                  </a:txBody>
                  <a:tcPr marL="9842" marR="9842" marT="9842" marB="0" anchor="ctr"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Abdul Wahab, Tariq Mahmood Khan, Shahzaib Iqbal,</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latin typeface="Times New Roman" panose="02020603050405020304" pitchFamily="18" charset="0"/>
                          <a:cs typeface="Times New Roman" panose="02020603050405020304" pitchFamily="18" charset="0"/>
                        </a:rPr>
                        <a:t>https://arxiv.org/abs/2409.11802</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The paper enhances latent fingerprints using image processing and deep learning</a:t>
                      </a:r>
                      <a:r>
                        <a:rPr lang="en-IN" altLang="en-US" sz="1400" b="0" dirty="0">
                          <a:latin typeface="Times New Roman" panose="02020603050405020304" pitchFamily="18" charset="0"/>
                          <a:cs typeface="Times New Roman" panose="02020603050405020304" pitchFamily="18" charset="0"/>
                        </a:rPr>
                        <a:t>.</a:t>
                      </a:r>
                      <a:endParaRPr lang="en-IN"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en-US" sz="1400" dirty="0">
                          <a:latin typeface="Times New Roman" panose="02020603050405020304" pitchFamily="18" charset="0"/>
                          <a:cs typeface="Times New Roman" panose="02020603050405020304" pitchFamily="18" charset="0"/>
                        </a:rPr>
                        <a:t>Improved</a:t>
                      </a:r>
                      <a:r>
                        <a:rPr lang="en-IN" altLang="en-US" sz="1400" dirty="0">
                          <a:latin typeface="Times New Roman" panose="02020603050405020304" pitchFamily="18" charset="0"/>
                          <a:cs typeface="Times New Roman" panose="02020603050405020304" pitchFamily="18" charset="0"/>
                        </a:rPr>
                        <a:t> </a:t>
                      </a:r>
                      <a:r>
                        <a:rPr lang="en-US" altLang="en-US" sz="1400" dirty="0">
                          <a:latin typeface="Times New Roman" panose="02020603050405020304" pitchFamily="18" charset="0"/>
                          <a:cs typeface="Times New Roman" panose="02020603050405020304" pitchFamily="18" charset="0"/>
                        </a:rPr>
                        <a:t>accuracy </a:t>
                      </a:r>
                      <a:r>
                        <a:rPr lang="en-IN" altLang="en-US" sz="1400" dirty="0">
                          <a:latin typeface="Times New Roman" panose="02020603050405020304" pitchFamily="18" charset="0"/>
                          <a:cs typeface="Times New Roman" panose="02020603050405020304" pitchFamily="18" charset="0"/>
                        </a:rPr>
                        <a:t> </a:t>
                      </a:r>
                      <a:r>
                        <a:rPr lang="en-US" altLang="en-US" sz="1400" dirty="0">
                          <a:latin typeface="Times New Roman" panose="02020603050405020304" pitchFamily="18" charset="0"/>
                          <a:cs typeface="Times New Roman" panose="02020603050405020304" pitchFamily="18" charset="0"/>
                        </a:rPr>
                        <a:t>or</a:t>
                      </a:r>
                      <a:endParaRPr lang="en-US" altLang="en-US" sz="1400" dirty="0">
                        <a:latin typeface="Times New Roman" panose="02020603050405020304" pitchFamily="18" charset="0"/>
                        <a:cs typeface="Times New Roman" panose="02020603050405020304" pitchFamily="18" charset="0"/>
                      </a:endParaRPr>
                    </a:p>
                    <a:p>
                      <a:pPr algn="l"/>
                      <a:r>
                        <a:rPr lang="en-US" altLang="en-US" sz="1400" dirty="0">
                          <a:latin typeface="Times New Roman" panose="02020603050405020304" pitchFamily="18" charset="0"/>
                          <a:cs typeface="Times New Roman" panose="02020603050405020304" pitchFamily="18" charset="0"/>
                        </a:rPr>
                        <a:t>Enhanced detection</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Low clarity </a:t>
                      </a:r>
                      <a:r>
                        <a:rPr lang="en-IN" altLang="en-US" sz="1400" b="0" dirty="0">
                          <a:latin typeface="Times New Roman" panose="02020603050405020304" pitchFamily="18" charset="0"/>
                          <a:cs typeface="Times New Roman" panose="02020603050405020304" pitchFamily="18" charset="0"/>
                        </a:rPr>
                        <a:t> </a:t>
                      </a:r>
                      <a:r>
                        <a:rPr lang="en-US" altLang="en-US" sz="1400" b="0" dirty="0">
                          <a:latin typeface="Times New Roman" panose="02020603050405020304" pitchFamily="18" charset="0"/>
                          <a:cs typeface="Times New Roman" panose="02020603050405020304" pitchFamily="18" charset="0"/>
                        </a:rPr>
                        <a:t>or</a:t>
                      </a:r>
                      <a:endParaRPr lang="en-US" altLang="en-US" sz="1400" b="0" dirty="0">
                        <a:latin typeface="Times New Roman" panose="02020603050405020304" pitchFamily="18" charset="0"/>
                        <a:cs typeface="Times New Roman" panose="02020603050405020304" pitchFamily="18" charset="0"/>
                      </a:endParaRPr>
                    </a:p>
                    <a:p>
                      <a:endParaRPr lang="en-US" altLang="en-US" sz="1400" b="0" dirty="0">
                        <a:latin typeface="Times New Roman" panose="02020603050405020304" pitchFamily="18" charset="0"/>
                        <a:cs typeface="Times New Roman" panose="02020603050405020304" pitchFamily="18" charset="0"/>
                      </a:endParaRPr>
                    </a:p>
                    <a:p>
                      <a:r>
                        <a:rPr lang="en-US" altLang="en-US" sz="1400" b="0" dirty="0">
                          <a:latin typeface="Times New Roman" panose="02020603050405020304" pitchFamily="18" charset="0"/>
                          <a:cs typeface="Times New Roman" panose="02020603050405020304" pitchFamily="18" charset="0"/>
                        </a:rPr>
                        <a:t>Feature loss</a:t>
                      </a:r>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44880">
                <a:tc>
                  <a:txBody>
                    <a:bodyPr/>
                    <a:lstStyle/>
                    <a:p>
                      <a:r>
                        <a:rPr lang="en-US" sz="1400" dirty="0"/>
                        <a:t>3</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Recognition of Fingerprint Biometric Verification System Using Deep Learning </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err="1"/>
                        <a:t>Rajora</a:t>
                      </a:r>
                      <a:r>
                        <a:rPr lang="en-US" sz="1400" dirty="0"/>
                        <a:t>, M., Rathod, M., and Naik, N.S.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http://www.researchgate.net/publication/391989044_Recognition_of_Fingerprint</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en-US" sz="1400" b="0" dirty="0">
                          <a:latin typeface="Times New Roman" panose="02020603050405020304" pitchFamily="18" charset="0"/>
                          <a:cs typeface="Times New Roman" panose="02020603050405020304" pitchFamily="18" charset="0"/>
                        </a:rPr>
                        <a:t>Deep learning-based fingerprint verification</a:t>
                      </a:r>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Accurate fingerprint verification</a:t>
                      </a:r>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Limited generalization </a:t>
                      </a:r>
                      <a:endParaRPr lang="en-US" altLang="en-US" sz="1400" b="0" dirty="0">
                        <a:latin typeface="Times New Roman" panose="02020603050405020304" pitchFamily="18" charset="0"/>
                        <a:cs typeface="Times New Roman" panose="02020603050405020304" pitchFamily="18" charset="0"/>
                      </a:endParaRPr>
                    </a:p>
                    <a:p>
                      <a:r>
                        <a:rPr lang="en-US" altLang="en-US" sz="1400" b="0" dirty="0">
                          <a:latin typeface="Times New Roman" panose="02020603050405020304" pitchFamily="18" charset="0"/>
                          <a:cs typeface="Times New Roman" panose="02020603050405020304" pitchFamily="18" charset="0"/>
                        </a:rPr>
                        <a:t>or</a:t>
                      </a:r>
                      <a:endParaRPr lang="en-US" altLang="en-US" sz="1400" b="0" dirty="0">
                        <a:latin typeface="Times New Roman" panose="02020603050405020304" pitchFamily="18" charset="0"/>
                        <a:cs typeface="Times New Roman" panose="02020603050405020304" pitchFamily="18" charset="0"/>
                      </a:endParaRPr>
                    </a:p>
                    <a:p>
                      <a:r>
                        <a:rPr lang="en-US" altLang="en-US" sz="1400" b="0" dirty="0">
                          <a:latin typeface="Times New Roman" panose="02020603050405020304" pitchFamily="18" charset="0"/>
                          <a:cs typeface="Times New Roman" panose="02020603050405020304" pitchFamily="18" charset="0"/>
                        </a:rPr>
                        <a:t>Feature sensitivity</a:t>
                      </a:r>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44880">
                <a:tc>
                  <a:txBody>
                    <a:bodyPr/>
                    <a:lstStyle/>
                    <a:p>
                      <a:r>
                        <a:rPr lang="en-US" sz="1400" dirty="0"/>
                        <a:t>4</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Advancements in Fingerprint Recognition Through Deep</a:t>
                      </a:r>
                      <a:r>
                        <a:rPr lang="en-IN" altLang="en-US" sz="1400" dirty="0"/>
                        <a:t> </a:t>
                      </a:r>
                      <a:r>
                        <a:rPr lang="en-US" altLang="en-US" sz="1400" dirty="0"/>
                        <a:t>Learning </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Leqian Yang.</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https://doi.org/10.54254/2755‑2721/105/2024TJ0054</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Deep learning-based fingerprint feature extraction</a:t>
                      </a:r>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Improved recognition performance</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Algorithm complexity </a:t>
                      </a:r>
                      <a:endParaRPr lang="en-US" altLang="en-US" sz="1400" b="0" dirty="0">
                        <a:latin typeface="Times New Roman" panose="02020603050405020304" pitchFamily="18" charset="0"/>
                        <a:cs typeface="Times New Roman" panose="02020603050405020304" pitchFamily="18" charset="0"/>
                      </a:endParaRPr>
                    </a:p>
                    <a:p>
                      <a:r>
                        <a:rPr lang="en-US" altLang="en-US" sz="1400" b="0" dirty="0">
                          <a:latin typeface="Times New Roman" panose="02020603050405020304" pitchFamily="18" charset="0"/>
                          <a:cs typeface="Times New Roman" panose="02020603050405020304" pitchFamily="18" charset="0"/>
                        </a:rPr>
                        <a:t>or</a:t>
                      </a:r>
                      <a:r>
                        <a:rPr lang="en-IN" altLang="en-US" sz="1400" b="0" dirty="0">
                          <a:latin typeface="Times New Roman" panose="02020603050405020304" pitchFamily="18" charset="0"/>
                          <a:cs typeface="Times New Roman" panose="02020603050405020304" pitchFamily="18" charset="0"/>
                        </a:rPr>
                        <a:t> </a:t>
                      </a:r>
                      <a:r>
                        <a:rPr lang="en-US" altLang="en-US" sz="1400" b="0" dirty="0">
                          <a:latin typeface="Times New Roman" panose="02020603050405020304" pitchFamily="18" charset="0"/>
                          <a:cs typeface="Times New Roman" panose="02020603050405020304" pitchFamily="18" charset="0"/>
                        </a:rPr>
                        <a:t>Limited real-world testing</a:t>
                      </a:r>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31520">
                <a:tc>
                  <a:txBody>
                    <a:bodyPr/>
                    <a:lstStyle/>
                    <a:p>
                      <a:r>
                        <a:rPr lang="en-US" sz="1400" dirty="0"/>
                        <a:t>5</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Deep Learning Method for Multi-Attribute Analysis of Fingerprint </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latin typeface="Times New Roman" panose="02020603050405020304" pitchFamily="18" charset="0"/>
                          <a:cs typeface="Times New Roman" panose="02020603050405020304" pitchFamily="18" charset="0"/>
                        </a:rPr>
                        <a:t>Diptadip Maiti, Madhuchhanda Basak</a:t>
                      </a:r>
                      <a:endParaRPr lang="en-US" alt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http://www.ivysci.com/articles/3797950</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Multi-attribute fingerprint analysis using deep learning</a:t>
                      </a:r>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dirty="0"/>
                        <a:t>Enhanced feature extraction</a:t>
                      </a:r>
                      <a:endParaRPr lang="en-US" alt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400" b="0" dirty="0">
                          <a:latin typeface="Times New Roman" panose="02020603050405020304" pitchFamily="18" charset="0"/>
                          <a:cs typeface="Times New Roman" panose="02020603050405020304" pitchFamily="18" charset="0"/>
                        </a:rPr>
                        <a:t>Limited dataset diversity</a:t>
                      </a:r>
                      <a:endParaRPr lang="en-US" alt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589280" y="1332230"/>
            <a:ext cx="11116310" cy="4845050"/>
          </a:xfrm>
        </p:spPr>
        <p:txBody>
          <a:bodyPr>
            <a:normAutofit fontScale="90000"/>
          </a:bodyPr>
          <a:lstStyle/>
          <a:p>
            <a:pPr marL="0" indent="0">
              <a:buNone/>
            </a:pPr>
            <a:r>
              <a:rPr lang="en-IN" altLang="en-US" sz="1600" dirty="0">
                <a:latin typeface="Times New Roman" panose="02020603050405020304" pitchFamily="18" charset="0"/>
                <a:cs typeface="Times New Roman" panose="02020603050405020304" pitchFamily="18" charset="0"/>
              </a:rPr>
              <a:t>1. </a:t>
            </a:r>
            <a:r>
              <a:rPr lang="en-US" altLang="en-US" sz="1600" b="1" dirty="0">
                <a:latin typeface="Times New Roman" panose="02020603050405020304" pitchFamily="18" charset="0"/>
                <a:cs typeface="Times New Roman" panose="02020603050405020304" pitchFamily="18" charset="0"/>
              </a:rPr>
              <a:t>No Feature Left Behind – Raffaele Cappelli</a:t>
            </a:r>
            <a:endParaRPr lang="en-US" altLang="en-US" sz="1600" b="1" dirty="0">
              <a:latin typeface="Times New Roman" panose="02020603050405020304" pitchFamily="18" charset="0"/>
              <a:cs typeface="Times New Roman" panose="02020603050405020304" pitchFamily="18" charset="0"/>
            </a:endParaRPr>
          </a:p>
          <a:p>
            <a:pPr marL="0" indent="0">
              <a:buNone/>
            </a:pPr>
            <a:r>
              <a:rPr lang="en-US" altLang="en-US" sz="1600" dirty="0">
                <a:latin typeface="Times New Roman" panose="02020603050405020304" pitchFamily="18" charset="0"/>
                <a:cs typeface="Times New Roman" panose="02020603050405020304" pitchFamily="18" charset="0"/>
              </a:rPr>
              <a:t> </a:t>
            </a:r>
            <a:r>
              <a:rPr lang="en-IN" altLang="en-US" sz="1600" dirty="0">
                <a:latin typeface="Times New Roman" panose="02020603050405020304" pitchFamily="18" charset="0"/>
                <a:cs typeface="Times New Roman" panose="02020603050405020304" pitchFamily="18" charset="0"/>
              </a:rPr>
              <a:t>       - </a:t>
            </a:r>
            <a:r>
              <a:rPr lang="en-US" altLang="en-US" sz="1600" dirty="0">
                <a:latin typeface="Times New Roman" panose="02020603050405020304" pitchFamily="18" charset="0"/>
                <a:cs typeface="Times New Roman" panose="02020603050405020304" pitchFamily="18" charset="0"/>
              </a:rPr>
              <a:t>Misses subtle ridge features.</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Limited handling of noisy fingerprints.</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2. </a:t>
            </a:r>
            <a:r>
              <a:rPr lang="en-US" altLang="en-US" sz="1600" b="1" dirty="0">
                <a:latin typeface="Times New Roman" panose="02020603050405020304" pitchFamily="18" charset="0"/>
                <a:cs typeface="Times New Roman" panose="02020603050405020304" pitchFamily="18" charset="0"/>
              </a:rPr>
              <a:t>Latent Fingerprint Enhancement – Abdul Wahab et al.</a:t>
            </a:r>
            <a:endParaRPr lang="en-US" altLang="en-US" sz="1600" b="1"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Low clarity in latent fingerprints.</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Requires preprocessing; sensitive to noise and background artifacts.</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3. </a:t>
            </a:r>
            <a:r>
              <a:rPr lang="en-US" altLang="en-US" sz="1600" b="1" dirty="0">
                <a:latin typeface="Times New Roman" panose="02020603050405020304" pitchFamily="18" charset="0"/>
                <a:cs typeface="Times New Roman" panose="02020603050405020304" pitchFamily="18" charset="0"/>
              </a:rPr>
              <a:t>Fingerprint Biometric Verification Using Deep Learning</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Limited generalization to new datasets or sensors.</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May struggle with distorted or rotated fingerprints.</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4. </a:t>
            </a:r>
            <a:r>
              <a:rPr lang="en-US" altLang="en-US" sz="1600" b="1" dirty="0">
                <a:latin typeface="Times New Roman" panose="02020603050405020304" pitchFamily="18" charset="0"/>
                <a:cs typeface="Times New Roman" panose="02020603050405020304" pitchFamily="18" charset="0"/>
              </a:rPr>
              <a:t>Advancements in Fingerprint Recognition Through Deep Learning – Leqian Yang</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High algorithm complexity → computationally expensive.</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Limited testing on real-world datasets.</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5. </a:t>
            </a:r>
            <a:r>
              <a:rPr lang="en-US" altLang="en-US" sz="1600" b="1" dirty="0">
                <a:latin typeface="Times New Roman" panose="02020603050405020304" pitchFamily="18" charset="0"/>
                <a:cs typeface="Times New Roman" panose="02020603050405020304" pitchFamily="18" charset="0"/>
              </a:rPr>
              <a:t>Deep Learning Method for Multi-Attribute Analysis – Diptadip Maiti et al.</a:t>
            </a:r>
            <a:endParaRPr lang="en-US" altLang="en-US" sz="1600" b="1"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Limited dataset diversity affects generalization.</a:t>
            </a:r>
            <a:endParaRPr lang="en-US" altLang="en-US" sz="1600" dirty="0">
              <a:latin typeface="Times New Roman" panose="02020603050405020304" pitchFamily="18" charset="0"/>
              <a:cs typeface="Times New Roman" panose="02020603050405020304" pitchFamily="18" charset="0"/>
            </a:endParaRPr>
          </a:p>
          <a:p>
            <a:pPr marL="0" indent="0">
              <a:buNone/>
            </a:pPr>
            <a:r>
              <a:rPr lang="en-IN" alt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May not capture rare or atypical fingerprint features.</a:t>
            </a:r>
            <a:endParaRPr lang="en-US" altLang="en-US" sz="16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No.2         Batch No.</a:t>
            </a:r>
            <a:r>
              <a:rPr lang="en-IN" altLang="en-US">
                <a:latin typeface="Times New Roman" panose="02020603050405020304" pitchFamily="18" charset="0"/>
                <a:cs typeface="Times New Roman" panose="02020603050405020304" pitchFamily="18" charset="0"/>
              </a:rPr>
              <a:t>DB1</a:t>
            </a:r>
            <a:r>
              <a:rPr lang="en-US">
                <a:latin typeface="Times New Roman" panose="02020603050405020304" pitchFamily="18" charset="0"/>
                <a:cs typeface="Times New Roman" panose="02020603050405020304" pitchFamily="18" charset="0"/>
              </a:rPr>
              <a:t>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PROBLEM STATEMENT</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492250"/>
            <a:ext cx="10515600" cy="4685030"/>
          </a:xfrm>
        </p:spPr>
        <p:txBody>
          <a:bodyPr>
            <a:noAutofit/>
          </a:bodyPr>
          <a:lstStyle/>
          <a:p>
            <a:pPr>
              <a:buClrTx/>
              <a:buFont typeface="Wingdings" panose="05000000000000000000" pitchFamily="2" charset="2"/>
              <a:buChar char="v"/>
            </a:pPr>
            <a:r>
              <a:rPr lang="en-US" altLang="en-US" sz="2000" dirty="0">
                <a:latin typeface="Times New Roman" panose="02020603050405020304" pitchFamily="18" charset="0"/>
                <a:ea typeface="Arial" panose="020B0604020202020204"/>
                <a:sym typeface="+mn-ea"/>
              </a:rPr>
              <a:t>Existing methods fail on noisy and low-quality fingerprints.</a:t>
            </a: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000" dirty="0">
                <a:latin typeface="Times New Roman" panose="02020603050405020304" pitchFamily="18" charset="0"/>
                <a:ea typeface="Arial" panose="020B0604020202020204"/>
                <a:sym typeface="+mn-ea"/>
              </a:rPr>
              <a:t>Traditional filters lack adaptability to real-world variations.</a:t>
            </a: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000" dirty="0">
                <a:latin typeface="Times New Roman" panose="02020603050405020304" pitchFamily="18" charset="0"/>
                <a:ea typeface="Arial" panose="020B0604020202020204"/>
                <a:sym typeface="+mn-ea"/>
              </a:rPr>
              <a:t>CNN models trained on clean data show poor generalization.</a:t>
            </a: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000" dirty="0">
                <a:latin typeface="Times New Roman" panose="02020603050405020304" pitchFamily="18" charset="0"/>
                <a:ea typeface="Arial" panose="020B0604020202020204"/>
                <a:sym typeface="+mn-ea"/>
              </a:rPr>
              <a:t>No large ground-truth dataset for ridge frequency estimation.</a:t>
            </a: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000" dirty="0">
                <a:latin typeface="Times New Roman" panose="02020603050405020304" pitchFamily="18" charset="0"/>
                <a:ea typeface="Arial" panose="020B0604020202020204"/>
                <a:sym typeface="+mn-ea"/>
              </a:rPr>
              <a:t>Patch-based analysis loses global ridge structure information.</a:t>
            </a: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0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000" dirty="0">
                <a:latin typeface="Times New Roman" panose="02020603050405020304" pitchFamily="18" charset="0"/>
                <a:ea typeface="Arial" panose="020B0604020202020204"/>
                <a:sym typeface="+mn-ea"/>
              </a:rPr>
              <a:t>Need for an adaptive CNN that can accurately estimate ridge orientation and frequency in real time.</a:t>
            </a:r>
            <a:endParaRPr lang="en-US" altLang="en-US" sz="2000" dirty="0">
              <a:latin typeface="Times New Roman" panose="02020603050405020304" pitchFamily="18" charset="0"/>
              <a:ea typeface="Arial" panose="020B0604020202020204"/>
            </a:endParaRPr>
          </a:p>
          <a:p>
            <a:pPr marL="0" indent="0">
              <a:buNone/>
            </a:pPr>
            <a:endParaRPr lang="en-US" altLang="en-US" sz="1100" dirty="0">
              <a:latin typeface="Times New Roman" panose="02020603050405020304" pitchFamily="18" charset="0"/>
              <a:ea typeface="Arial" panose="020B0604020202020204"/>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a:t>
            </a:r>
            <a:r>
              <a:rPr lang="en-IN" altLang="en-US">
                <a:latin typeface="Times New Roman" panose="02020603050405020304" pitchFamily="18" charset="0"/>
                <a:cs typeface="Times New Roman" panose="02020603050405020304" pitchFamily="18" charset="0"/>
              </a:rPr>
              <a:t>2</a:t>
            </a:r>
            <a:r>
              <a:rPr lang="en-US">
                <a:latin typeface="Times New Roman" panose="02020603050405020304" pitchFamily="18" charset="0"/>
                <a:cs typeface="Times New Roman" panose="02020603050405020304" pitchFamily="18" charset="0"/>
              </a:rPr>
              <a:t>       Batch No.</a:t>
            </a:r>
            <a:r>
              <a:rPr lang="en-IN" altLang="en-US">
                <a:latin typeface="Times New Roman" panose="02020603050405020304" pitchFamily="18" charset="0"/>
                <a:cs typeface="Times New Roman" panose="02020603050405020304" pitchFamily="18" charset="0"/>
              </a:rPr>
              <a:t>DB1</a:t>
            </a:r>
            <a:r>
              <a:rPr lang="en-US">
                <a:latin typeface="Times New Roman" panose="02020603050405020304" pitchFamily="18" charset="0"/>
                <a:cs typeface="Times New Roman" panose="02020603050405020304" pitchFamily="18" charset="0"/>
              </a:rPr>
              <a:t>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492885"/>
            <a:ext cx="10515600" cy="4684395"/>
          </a:xfrm>
        </p:spPr>
        <p:txBody>
          <a:bodyPr>
            <a:normAutofit lnSpcReduction="10000"/>
          </a:bodyPr>
          <a:lstStyle/>
          <a:p>
            <a:pPr>
              <a:buClrTx/>
              <a:buFont typeface="Wingdings" panose="05000000000000000000" charset="0"/>
              <a:buChar char="v"/>
            </a:pPr>
            <a:r>
              <a:rPr lang="en-US" altLang="en-US" sz="2200" dirty="0">
                <a:latin typeface="Times New Roman" panose="02020603050405020304" pitchFamily="18" charset="0"/>
                <a:ea typeface="Arial" panose="020B0604020202020204"/>
                <a:sym typeface="+mn-ea"/>
              </a:rPr>
              <a:t>To design an adaptive CNN model</a:t>
            </a:r>
            <a:r>
              <a:rPr lang="en-US" altLang="en-US" sz="2200" b="1"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for ridge orientation and frequency estimation.</a:t>
            </a: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To improve fingerprint image quality using </a:t>
            </a:r>
            <a:r>
              <a:rPr lang="en-US" altLang="en-US" sz="2200" dirty="0">
                <a:latin typeface="Times New Roman" panose="02020603050405020304" pitchFamily="18" charset="0"/>
                <a:ea typeface="Arial" panose="020B0604020202020204"/>
                <a:sym typeface="+mn-ea"/>
              </a:rPr>
              <a:t>XSFFE and SNFFE</a:t>
            </a:r>
            <a:r>
              <a:rPr lang="en-US" altLang="en-US" sz="2200" b="1" dirty="0">
                <a:latin typeface="Times New Roman" panose="02020603050405020304" pitchFamily="18" charset="0"/>
                <a:ea typeface="Arial" panose="020B0604020202020204"/>
                <a:sym typeface="+mn-ea"/>
              </a:rPr>
              <a:t> </a:t>
            </a:r>
            <a:r>
              <a:rPr lang="en-US" altLang="en-US" sz="2200" dirty="0">
                <a:latin typeface="Times New Roman" panose="02020603050405020304" pitchFamily="18" charset="0"/>
                <a:ea typeface="Arial" panose="020B0604020202020204"/>
                <a:sym typeface="+mn-ea"/>
              </a:rPr>
              <a:t>preprocessing.</a:t>
            </a: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To achieve </a:t>
            </a:r>
            <a:r>
              <a:rPr lang="en-US" altLang="en-US" sz="2200" dirty="0">
                <a:latin typeface="Times New Roman" panose="02020603050405020304" pitchFamily="18" charset="0"/>
                <a:ea typeface="Arial" panose="020B0604020202020204"/>
                <a:sym typeface="+mn-ea"/>
              </a:rPr>
              <a:t>robust performance on noisy or low-quality fingerprints.</a:t>
            </a: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To ensure </a:t>
            </a:r>
            <a:r>
              <a:rPr lang="en-US" altLang="en-US" sz="2200" dirty="0">
                <a:latin typeface="Times New Roman" panose="02020603050405020304" pitchFamily="18" charset="0"/>
                <a:ea typeface="Arial" panose="020B0604020202020204"/>
                <a:sym typeface="+mn-ea"/>
              </a:rPr>
              <a:t>real-time execution with high accuracy.</a:t>
            </a: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endParaRPr lang="en-US" altLang="en-US" sz="2200" dirty="0">
              <a:latin typeface="Times New Roman" panose="02020603050405020304" pitchFamily="18" charset="0"/>
              <a:ea typeface="Arial" panose="020B0604020202020204"/>
            </a:endParaRPr>
          </a:p>
          <a:p>
            <a:pPr>
              <a:buClrTx/>
              <a:buFont typeface="Wingdings" panose="05000000000000000000" pitchFamily="2" charset="2"/>
              <a:buChar char="v"/>
            </a:pPr>
            <a:r>
              <a:rPr lang="en-US" altLang="en-US" sz="2200" dirty="0">
                <a:latin typeface="Times New Roman" panose="02020603050405020304" pitchFamily="18" charset="0"/>
                <a:ea typeface="Arial" panose="020B0604020202020204"/>
                <a:sym typeface="+mn-ea"/>
              </a:rPr>
              <a:t>To evaluate model performance using </a:t>
            </a:r>
            <a:r>
              <a:rPr lang="en-US" altLang="en-US" sz="2200" dirty="0">
                <a:latin typeface="Times New Roman" panose="02020603050405020304" pitchFamily="18" charset="0"/>
                <a:ea typeface="Arial" panose="020B0604020202020204"/>
                <a:sym typeface="+mn-ea"/>
              </a:rPr>
              <a:t>MAPE (Mean Absolute Precentage Error) and </a:t>
            </a:r>
            <a:endParaRPr lang="en-US" altLang="en-US" sz="2200" dirty="0">
              <a:latin typeface="Times New Roman" panose="02020603050405020304" pitchFamily="18" charset="0"/>
              <a:ea typeface="Arial" panose="020B0604020202020204"/>
              <a:sym typeface="+mn-ea"/>
            </a:endParaRPr>
          </a:p>
          <a:p>
            <a:pPr marL="0" indent="0">
              <a:buClrTx/>
              <a:buFont typeface="Wingdings" panose="05000000000000000000" pitchFamily="2" charset="2"/>
              <a:buNone/>
            </a:pPr>
            <a:r>
              <a:rPr lang="en-US" altLang="en-US" sz="2200" dirty="0">
                <a:latin typeface="Times New Roman" panose="02020603050405020304" pitchFamily="18" charset="0"/>
                <a:ea typeface="Arial" panose="020B0604020202020204"/>
                <a:sym typeface="+mn-ea"/>
              </a:rPr>
              <a:t>     benchmark comparisons.</a:t>
            </a:r>
            <a:endParaRPr lang="en-US" altLang="en-US" sz="2200" dirty="0">
              <a:latin typeface="Times New Roman" panose="02020603050405020304" pitchFamily="18" charset="0"/>
              <a:ea typeface="Arial" panose="020B0604020202020204"/>
            </a:endParaRP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No.2         Batch No. </a:t>
            </a:r>
            <a:r>
              <a:rPr lang="en-IN" altLang="en-US">
                <a:latin typeface="Times New Roman" panose="02020603050405020304" pitchFamily="18" charset="0"/>
                <a:cs typeface="Times New Roman" panose="02020603050405020304" pitchFamily="18" charset="0"/>
              </a:rPr>
              <a:t>DB1</a:t>
            </a:r>
            <a:r>
              <a:rPr lang="en-US">
                <a:latin typeface="Times New Roman" panose="02020603050405020304" pitchFamily="18" charset="0"/>
                <a:cs typeface="Times New Roman" panose="02020603050405020304" pitchFamily="18" charset="0"/>
              </a:rPr>
              <a:t>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465" y="365125"/>
            <a:ext cx="10173335" cy="94805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BLOCK DIAGRAM OR FLOW DIAGRAM</a:t>
            </a:r>
            <a:endParaRPr lang="en-US" b="1"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a:t>
            </a:r>
            <a:r>
              <a:rPr lang="en-IN" altLang="en-US">
                <a:latin typeface="Times New Roman" panose="02020603050405020304" pitchFamily="18" charset="0"/>
                <a:cs typeface="Times New Roman" panose="02020603050405020304" pitchFamily="18" charset="0"/>
              </a:rPr>
              <a:t>2</a:t>
            </a:r>
            <a:r>
              <a:rPr lang="en-US">
                <a:latin typeface="Times New Roman" panose="02020603050405020304" pitchFamily="18" charset="0"/>
                <a:cs typeface="Times New Roman" panose="02020603050405020304" pitchFamily="18" charset="0"/>
              </a:rPr>
              <a:t>        Batch No.</a:t>
            </a:r>
            <a:r>
              <a:rPr lang="en-IN" altLang="en-US">
                <a:latin typeface="Times New Roman" panose="02020603050405020304" pitchFamily="18" charset="0"/>
                <a:cs typeface="Times New Roman" panose="02020603050405020304" pitchFamily="18" charset="0"/>
              </a:rPr>
              <a:t>DB1</a:t>
            </a:r>
            <a:r>
              <a:rPr lang="en-US">
                <a:latin typeface="Times New Roman" panose="02020603050405020304" pitchFamily="18" charset="0"/>
                <a:cs typeface="Times New Roman" panose="02020603050405020304" pitchFamily="18" charset="0"/>
              </a:rPr>
              <a:t>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pic>
        <p:nvPicPr>
          <p:cNvPr id="4" name="Picture 3" descr="archi"/>
          <p:cNvPicPr>
            <a:picLocks noChangeAspect="1"/>
          </p:cNvPicPr>
          <p:nvPr/>
        </p:nvPicPr>
        <p:blipFill>
          <a:blip r:embed="rId1"/>
          <a:stretch>
            <a:fillRect/>
          </a:stretch>
        </p:blipFill>
        <p:spPr>
          <a:xfrm>
            <a:off x="4420870" y="1167130"/>
            <a:ext cx="4012565" cy="51892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465" y="496570"/>
            <a:ext cx="8678545" cy="820420"/>
          </a:xfrm>
        </p:spPr>
        <p:txBody>
          <a:bodyPr/>
          <a:lstStyle/>
          <a:p>
            <a:pPr algn="ctr"/>
            <a:r>
              <a:rPr lang="en-US" b="1" dirty="0">
                <a:latin typeface="Times New Roman" panose="02020603050405020304" pitchFamily="18" charset="0"/>
                <a:cs typeface="Times New Roman" panose="02020603050405020304" pitchFamily="18" charset="0"/>
              </a:rPr>
              <a:t>METHODOLOGY</a:t>
            </a:r>
            <a:endParaRPr lang="en-US" b="1"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No.2         Batch No. </a:t>
            </a:r>
            <a:r>
              <a:rPr lang="en-IN" altLang="en-US">
                <a:latin typeface="Times New Roman" panose="02020603050405020304" pitchFamily="18" charset="0"/>
                <a:cs typeface="Times New Roman" panose="02020603050405020304" pitchFamily="18" charset="0"/>
              </a:rPr>
              <a:t>DB1</a:t>
            </a:r>
            <a:r>
              <a:rPr lang="en-US">
                <a:latin typeface="Times New Roman" panose="02020603050405020304" pitchFamily="18" charset="0"/>
                <a:cs typeface="Times New Roman" panose="02020603050405020304" pitchFamily="18" charset="0"/>
              </a:rPr>
              <a:t>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0" name="Text Box 9"/>
          <p:cNvSpPr txBox="1"/>
          <p:nvPr/>
        </p:nvSpPr>
        <p:spPr>
          <a:xfrm>
            <a:off x="574675" y="1122680"/>
            <a:ext cx="11208385" cy="5123180"/>
          </a:xfrm>
          <a:prstGeom prst="rect">
            <a:avLst/>
          </a:prstGeom>
          <a:noFill/>
        </p:spPr>
        <p:txBody>
          <a:bodyPr wrap="square" rtlCol="0">
            <a:noAutofit/>
          </a:bodyPr>
          <a:p>
            <a:pPr>
              <a:lnSpc>
                <a:spcPct val="150000"/>
              </a:lnSpc>
            </a:pPr>
            <a:r>
              <a:rPr lang="en-IN" altLang="en-US" b="1">
                <a:latin typeface="Times New Roman" panose="02020603050405020304" pitchFamily="18" charset="0"/>
                <a:sym typeface="+mn-ea"/>
              </a:rPr>
              <a:t>Pipeline Overview :</a:t>
            </a:r>
            <a:endParaRPr lang="en-IN" altLang="en-US" b="1">
              <a:latin typeface="Times New Roman" panose="02020603050405020304" pitchFamily="18" charset="0"/>
              <a:sym typeface="+mn-ea"/>
            </a:endParaRPr>
          </a:p>
          <a:p>
            <a:pPr>
              <a:lnSpc>
                <a:spcPct val="150000"/>
              </a:lnSpc>
            </a:pPr>
            <a:r>
              <a:rPr lang="en-IN" altLang="en-US" sz="2400"/>
              <a:t>1. </a:t>
            </a:r>
            <a:r>
              <a:rPr lang="en-US" altLang="en-US" sz="2400" b="1">
                <a:latin typeface="Times New Roman" panose="02020603050405020304" pitchFamily="18" charset="0"/>
                <a:cs typeface="Times New Roman" panose="02020603050405020304" pitchFamily="18" charset="0"/>
              </a:rPr>
              <a:t>Dataset</a:t>
            </a:r>
            <a:r>
              <a:rPr lang="en-IN" altLang="en-US" sz="2400" b="1">
                <a:latin typeface="Times New Roman" panose="02020603050405020304" pitchFamily="18" charset="0"/>
                <a:cs typeface="Times New Roman" panose="02020603050405020304" pitchFamily="18" charset="0"/>
              </a:rPr>
              <a:t>:</a:t>
            </a:r>
            <a:endParaRPr lang="en-IN" altLang="en-US" sz="2400" b="1">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charset="0"/>
              <a:buChar char="Ø"/>
            </a:pPr>
            <a:r>
              <a:rPr lang="en-US" altLang="en-US" sz="2000" b="1">
                <a:latin typeface="Times New Roman" panose="02020603050405020304" pitchFamily="18" charset="0"/>
                <a:cs typeface="Times New Roman" panose="02020603050405020304" pitchFamily="18" charset="0"/>
              </a:rPr>
              <a:t>Dataset Used – FFE Dataset</a:t>
            </a:r>
            <a:endParaRPr lang="en-US" altLang="en-US" sz="2000" b="1">
              <a:latin typeface="Times New Roman" panose="02020603050405020304" pitchFamily="18" charset="0"/>
              <a:cs typeface="Times New Roman" panose="02020603050405020304" pitchFamily="18" charset="0"/>
            </a:endParaRPr>
          </a:p>
          <a:p>
            <a:pPr marL="1200150" lvl="2" indent="-285750">
              <a:lnSpc>
                <a:spcPct val="15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The FFE (Fingerprint Feature Estimation)</a:t>
            </a:r>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dataset is used for training</a:t>
            </a:r>
            <a:r>
              <a:rPr lang="en-IN"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and evaluation.</a:t>
            </a:r>
            <a:endParaRPr lang="en-US" altLang="en-US">
              <a:latin typeface="Times New Roman" panose="02020603050405020304" pitchFamily="18" charset="0"/>
              <a:cs typeface="Times New Roman" panose="02020603050405020304" pitchFamily="18" charset="0"/>
            </a:endParaRPr>
          </a:p>
          <a:p>
            <a:pPr marL="1200150" lvl="2" indent="-285750">
              <a:lnSpc>
                <a:spcPct val="15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Designed to support research on ridge orientation, ridge frequency, and</a:t>
            </a:r>
            <a:r>
              <a:rPr lang="en-IN"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foreground region detection.</a:t>
            </a:r>
            <a:endParaRPr lang="en-US" altLang="en-US">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charset="0"/>
              <a:buChar char="Ø"/>
            </a:pPr>
            <a:r>
              <a:rPr lang="en-US" altLang="en-US" sz="2000" b="1">
                <a:latin typeface="Times New Roman" panose="02020603050405020304" pitchFamily="18" charset="0"/>
                <a:cs typeface="Times New Roman" panose="02020603050405020304" pitchFamily="18" charset="0"/>
              </a:rPr>
              <a:t>Purpose of Dataset</a:t>
            </a:r>
            <a:endParaRPr lang="en-US" altLang="en-US" sz="2000" b="1">
              <a:latin typeface="Times New Roman" panose="02020603050405020304" pitchFamily="18" charset="0"/>
              <a:cs typeface="Times New Roman" panose="02020603050405020304" pitchFamily="18" charset="0"/>
            </a:endParaRPr>
          </a:p>
          <a:p>
            <a:pPr marL="1200150" lvl="2" indent="-285750" algn="l">
              <a:lnSpc>
                <a:spcPct val="15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Enables benchmarking</a:t>
            </a:r>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of fingerprint analysis models.</a:t>
            </a:r>
            <a:endParaRPr lang="en-US" altLang="en-US">
              <a:latin typeface="Times New Roman" panose="02020603050405020304" pitchFamily="18" charset="0"/>
              <a:cs typeface="Times New Roman" panose="02020603050405020304" pitchFamily="18" charset="0"/>
            </a:endParaRPr>
          </a:p>
          <a:p>
            <a:pPr marL="1200150" lvl="2" indent="-285750" algn="l">
              <a:lnSpc>
                <a:spcPct val="15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Helps in validating adaptive CNN architectures for orientation and frequency field mapping.</a:t>
            </a:r>
            <a:endParaRPr lang="en-US" altLang="en-US">
              <a:latin typeface="Times New Roman" panose="02020603050405020304" pitchFamily="18" charset="0"/>
              <a:cs typeface="Times New Roman" panose="02020603050405020304" pitchFamily="18" charset="0"/>
            </a:endParaRPr>
          </a:p>
          <a:p>
            <a:pPr marL="1200150" lvl="2" indent="-285750" algn="l">
              <a:lnSpc>
                <a:spcPct val="15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Supports </a:t>
            </a:r>
            <a:r>
              <a:rPr lang="en-US" altLang="en-US">
                <a:latin typeface="Times New Roman" panose="02020603050405020304" pitchFamily="18" charset="0"/>
                <a:cs typeface="Times New Roman" panose="02020603050405020304" pitchFamily="18" charset="0"/>
              </a:rPr>
              <a:t>comparison between traditional and CNN-based approaches.</a:t>
            </a:r>
            <a:endParaRPr lang="en-US" altLang="en-US">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charset="0"/>
              <a:buChar char="Ø"/>
            </a:pPr>
            <a:r>
              <a:rPr lang="en-US" altLang="en-US" sz="2000" b="1">
                <a:latin typeface="Times New Roman" panose="02020603050405020304" pitchFamily="18" charset="0"/>
                <a:cs typeface="Times New Roman" panose="02020603050405020304" pitchFamily="18" charset="0"/>
              </a:rPr>
              <a:t>Dataset Characteristics</a:t>
            </a:r>
            <a:endParaRPr lang="en-US" altLang="en-US" sz="2000" b="1">
              <a:latin typeface="Times New Roman" panose="02020603050405020304" pitchFamily="18" charset="0"/>
              <a:cs typeface="Times New Roman" panose="02020603050405020304" pitchFamily="18" charset="0"/>
            </a:endParaRPr>
          </a:p>
          <a:p>
            <a:pPr marL="1200150" lvl="2" indent="-285750" algn="l">
              <a:lnSpc>
                <a:spcPct val="15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Contains classified fingerprint images categorized by quality (e.g., Good or Bad).</a:t>
            </a:r>
            <a:endParaRPr lang="en-US" altLang="en-US">
              <a:latin typeface="Times New Roman" panose="02020603050405020304" pitchFamily="18" charset="0"/>
              <a:cs typeface="Times New Roman" panose="02020603050405020304" pitchFamily="18" charset="0"/>
            </a:endParaRPr>
          </a:p>
          <a:p>
            <a:pPr marL="1200150" lvl="2" indent="-285750" algn="l">
              <a:lnSpc>
                <a:spcPct val="15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Includes both clean and noisy fingerprint samples.</a:t>
            </a:r>
            <a:endParaRPr lang="en-US" altLang="en-US">
              <a:latin typeface="Times New Roman" panose="02020603050405020304" pitchFamily="18" charset="0"/>
              <a:cs typeface="Times New Roman" panose="02020603050405020304" pitchFamily="18" charset="0"/>
            </a:endParaRPr>
          </a:p>
          <a:p>
            <a:pPr indent="0" algn="ctr">
              <a:lnSpc>
                <a:spcPct val="150000"/>
              </a:lnSpc>
              <a:buFont typeface="Wingdings" panose="05000000000000000000" charset="0"/>
              <a:buNone/>
            </a:pP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1270000"/>
            <a:ext cx="10515600" cy="4907280"/>
          </a:xfrm>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4" name="TextBox 13"/>
          <p:cNvSpPr txBox="1"/>
          <p:nvPr/>
        </p:nvSpPr>
        <p:spPr>
          <a:xfrm>
            <a:off x="592455" y="718185"/>
            <a:ext cx="7560310" cy="461010"/>
          </a:xfrm>
          <a:prstGeom prst="rect">
            <a:avLst/>
          </a:prstGeom>
          <a:noFill/>
        </p:spPr>
        <p:txBody>
          <a:bodyPr wrap="square">
            <a:noAutofit/>
          </a:bodyPr>
          <a:lstStyle/>
          <a:p>
            <a:r>
              <a:rPr lang="en-US" altLang="en-US" sz="2400" b="1" dirty="0">
                <a:latin typeface="Times New Roman" panose="02020603050405020304" pitchFamily="18" charset="0"/>
                <a:cs typeface="Times New Roman" panose="02020603050405020304" pitchFamily="18" charset="0"/>
              </a:rPr>
              <a:t> </a:t>
            </a:r>
            <a:r>
              <a:rPr lang="en-IN" altLang="en-US" sz="2400" b="1" dirty="0">
                <a:latin typeface="Times New Roman" panose="02020603050405020304" pitchFamily="18" charset="0"/>
                <a:cs typeface="Times New Roman" panose="02020603050405020304" pitchFamily="18" charset="0"/>
              </a:rPr>
              <a:t>2. Data Preprocessing</a:t>
            </a:r>
            <a:endParaRPr lang="en-IN" altLang="en-US" sz="2400" b="1"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947420" y="1174115"/>
            <a:ext cx="10405745" cy="5181600"/>
          </a:xfrm>
          <a:prstGeom prst="rect">
            <a:avLst/>
          </a:prstGeom>
          <a:noFill/>
        </p:spPr>
        <p:txBody>
          <a:bodyPr wrap="square" rtlCol="0">
            <a:noAutofit/>
          </a:bodyPr>
          <a:p>
            <a:pPr>
              <a:lnSpc>
                <a:spcPct val="100000"/>
              </a:lnSpc>
            </a:pPr>
            <a:r>
              <a:rPr lang="en-IN" altLang="en-US" sz="2000" b="1">
                <a:latin typeface="Times New Roman" panose="02020603050405020304" pitchFamily="18" charset="0"/>
                <a:cs typeface="Times New Roman" panose="02020603050405020304" pitchFamily="18" charset="0"/>
              </a:rPr>
              <a:t>1. </a:t>
            </a:r>
            <a:r>
              <a:rPr lang="en-US" altLang="en-US" sz="2000" b="1">
                <a:latin typeface="Times New Roman" panose="02020603050405020304" pitchFamily="18" charset="0"/>
                <a:cs typeface="Times New Roman" panose="02020603050405020304" pitchFamily="18" charset="0"/>
              </a:rPr>
              <a:t>Image Quality Enhancement</a:t>
            </a:r>
            <a:endParaRPr lang="en-US" altLang="en-US" sz="2000" b="1">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charset="0"/>
              <a:buChar char="v"/>
            </a:pPr>
            <a:r>
              <a:rPr lang="en-IN"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The preprocessing stage focuses on improving fingerprint clarity</a:t>
            </a:r>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by removing noise, enhancing ridge </a:t>
            </a:r>
            <a:r>
              <a:rPr lang="en-IN" altLang="en-US">
                <a:latin typeface="Times New Roman" panose="02020603050405020304" pitchFamily="18" charset="0"/>
                <a:cs typeface="Times New Roman" panose="02020603050405020304" pitchFamily="18" charset="0"/>
              </a:rPr>
              <a:t>            </a:t>
            </a:r>
            <a:endParaRPr lang="en-IN" altLang="en-US">
              <a:latin typeface="Times New Roman" panose="02020603050405020304" pitchFamily="18" charset="0"/>
              <a:cs typeface="Times New Roman" panose="02020603050405020304" pitchFamily="18" charset="0"/>
            </a:endParaRPr>
          </a:p>
          <a:p>
            <a:pPr indent="0">
              <a:lnSpc>
                <a:spcPct val="100000"/>
              </a:lnSpc>
              <a:buFont typeface="Wingdings" panose="05000000000000000000" charset="0"/>
              <a:buNone/>
            </a:pPr>
            <a:r>
              <a:rPr lang="en-IN"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contrast,</a:t>
            </a:r>
            <a:r>
              <a:rPr lang="en-IN"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and preserving fine structural details for effective CNN learning.</a:t>
            </a:r>
            <a:endParaRPr lang="en-US" altLang="en-US">
              <a:latin typeface="Times New Roman" panose="02020603050405020304" pitchFamily="18" charset="0"/>
              <a:cs typeface="Times New Roman" panose="02020603050405020304" pitchFamily="18" charset="0"/>
            </a:endParaRPr>
          </a:p>
          <a:p>
            <a:pPr indent="0">
              <a:lnSpc>
                <a:spcPct val="100000"/>
              </a:lnSpc>
              <a:buFont typeface="Wingdings" panose="05000000000000000000" charset="0"/>
              <a:buNone/>
            </a:pPr>
            <a:r>
              <a:rPr lang="en-IN" altLang="en-US" sz="2000" b="1">
                <a:latin typeface="Times New Roman" panose="02020603050405020304" pitchFamily="18" charset="0"/>
                <a:cs typeface="Times New Roman" panose="02020603050405020304" pitchFamily="18" charset="0"/>
              </a:rPr>
              <a:t>2.  </a:t>
            </a:r>
            <a:r>
              <a:rPr lang="en-US" altLang="en-US" sz="2000" b="1">
                <a:latin typeface="Times New Roman" panose="02020603050405020304" pitchFamily="18" charset="0"/>
                <a:cs typeface="Times New Roman" panose="02020603050405020304" pitchFamily="18" charset="0"/>
              </a:rPr>
              <a:t>XSFFE (Extended Synthetic Fingerprint Feature Extraction)</a:t>
            </a:r>
            <a:endParaRPr lang="en-US" altLang="en-US" sz="2000" b="1">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This module </a:t>
            </a:r>
            <a:r>
              <a:rPr lang="en-US" altLang="en-US">
                <a:latin typeface="Times New Roman" panose="02020603050405020304" pitchFamily="18" charset="0"/>
                <a:cs typeface="Times New Roman" panose="02020603050405020304" pitchFamily="18" charset="0"/>
              </a:rPr>
              <a:t>synthetically generates or sharpens ridge patterns, and performs distance transformation to produce a clean, noise-free fingerprint image suitable for feature extraction.</a:t>
            </a:r>
            <a:endParaRPr lang="en-US" altLang="en-US" b="1">
              <a:latin typeface="Times New Roman" panose="02020603050405020304" pitchFamily="18" charset="0"/>
              <a:cs typeface="Times New Roman" panose="02020603050405020304" pitchFamily="18" charset="0"/>
            </a:endParaRPr>
          </a:p>
          <a:p>
            <a:pPr indent="0">
              <a:lnSpc>
                <a:spcPct val="100000"/>
              </a:lnSpc>
              <a:buFont typeface="Wingdings" panose="05000000000000000000" charset="0"/>
              <a:buNone/>
            </a:pPr>
            <a:r>
              <a:rPr lang="en-IN" altLang="en-US" b="1">
                <a:latin typeface="Times New Roman" panose="02020603050405020304" pitchFamily="18" charset="0"/>
                <a:cs typeface="Times New Roman" panose="02020603050405020304" pitchFamily="18" charset="0"/>
              </a:rPr>
              <a:t>3. </a:t>
            </a:r>
            <a:r>
              <a:rPr lang="en-US" altLang="en-US" sz="2000" b="1">
                <a:latin typeface="Times New Roman" panose="02020603050405020304" pitchFamily="18" charset="0"/>
                <a:cs typeface="Times New Roman" panose="02020603050405020304" pitchFamily="18" charset="0"/>
              </a:rPr>
              <a:t>SNFFE (Synthetic Normalized Fingerprint Feature Extraction)</a:t>
            </a:r>
            <a:endParaRPr lang="en-US" altLang="en-US" sz="2000" b="1">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Responsible for normalizing brightness, contrast, and ridge sharpness, ensuring uniform data quality across the dataset.</a:t>
            </a:r>
            <a:endParaRPr lang="en-US" altLang="en-US">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It enhances consistency and stability in CNN-based training.</a:t>
            </a:r>
            <a:endParaRPr lang="en-US" altLang="en-US">
              <a:latin typeface="Times New Roman" panose="02020603050405020304" pitchFamily="18" charset="0"/>
              <a:cs typeface="Times New Roman" panose="02020603050405020304" pitchFamily="18" charset="0"/>
            </a:endParaRPr>
          </a:p>
          <a:p>
            <a:pPr indent="0">
              <a:lnSpc>
                <a:spcPct val="100000"/>
              </a:lnSpc>
              <a:buFont typeface="Wingdings" panose="05000000000000000000" charset="0"/>
              <a:buNone/>
            </a:pPr>
            <a:r>
              <a:rPr lang="en-US" altLang="en-IN" sz="2000" b="1">
                <a:latin typeface="Times New Roman" panose="02020603050405020304" pitchFamily="18" charset="0"/>
                <a:cs typeface="Times New Roman" panose="02020603050405020304" pitchFamily="18" charset="0"/>
              </a:rPr>
              <a:t>4</a:t>
            </a:r>
            <a:r>
              <a:rPr lang="en-IN" altLang="en-US" sz="2000" b="1">
                <a:latin typeface="Times New Roman" panose="02020603050405020304" pitchFamily="18" charset="0"/>
                <a:cs typeface="Times New Roman" panose="02020603050405020304" pitchFamily="18" charset="0"/>
              </a:rPr>
              <a:t>. </a:t>
            </a:r>
            <a:r>
              <a:rPr lang="en-US" altLang="en-IN" sz="2000" b="1">
                <a:latin typeface="Times New Roman" panose="02020603050405020304" pitchFamily="18" charset="0"/>
                <a:cs typeface="Times New Roman" panose="02020603050405020304" pitchFamily="18" charset="0"/>
              </a:rPr>
              <a:t>Segmentation</a:t>
            </a:r>
            <a:endParaRPr lang="en-US" altLang="en-US" sz="2000" b="1">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Segmentation isolates the fingerprint region from the background to ensure accurate ridge analysis and efficient feature extraction.</a:t>
            </a:r>
            <a:endParaRPr lang="en-US" altLang="en-US">
              <a:latin typeface="Times New Roman" panose="02020603050405020304" pitchFamily="18" charset="0"/>
              <a:cs typeface="Times New Roman" panose="02020603050405020304" pitchFamily="18" charset="0"/>
            </a:endParaRPr>
          </a:p>
          <a:p>
            <a:pPr indent="0">
              <a:lnSpc>
                <a:spcPct val="100000"/>
              </a:lnSpc>
              <a:buFont typeface="Wingdings" panose="05000000000000000000" charset="0"/>
              <a:buNone/>
            </a:pPr>
            <a:r>
              <a:rPr lang="en-US" altLang="en-US" sz="2000" b="1">
                <a:latin typeface="Times New Roman" panose="02020603050405020304" pitchFamily="18" charset="0"/>
                <a:cs typeface="Times New Roman" panose="02020603050405020304" pitchFamily="18" charset="0"/>
              </a:rPr>
              <a:t>5. Ground Truth Generation</a:t>
            </a:r>
            <a:endParaRPr lang="en-US" altLang="en-US" sz="2000" b="1">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charset="0"/>
              <a:buChar char="v"/>
            </a:pPr>
            <a:r>
              <a:rPr lang="en-US" altLang="en-US">
                <a:latin typeface="Times New Roman" panose="02020603050405020304" pitchFamily="18" charset="0"/>
                <a:cs typeface="Times New Roman" panose="02020603050405020304" pitchFamily="18" charset="0"/>
              </a:rPr>
              <a:t>Ground truth generation creates accurate reference data for training and evaluating the model’s ridge orientation and frequency estimation.</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2" name="Title 1"/>
          <p:cNvSpPr txBox="1"/>
          <p:nvPr/>
        </p:nvSpPr>
        <p:spPr>
          <a:xfrm>
            <a:off x="578485" y="561975"/>
            <a:ext cx="10038080" cy="6845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2400" b="1" dirty="0">
                <a:latin typeface="Times New Roman" panose="02020603050405020304" pitchFamily="18" charset="0"/>
                <a:cs typeface="Times New Roman" panose="02020603050405020304" pitchFamily="18" charset="0"/>
              </a:rPr>
              <a:t>3. </a:t>
            </a:r>
            <a:r>
              <a:rPr lang="en-US" altLang="en-US" sz="2400" b="1" dirty="0">
                <a:latin typeface="Times New Roman" panose="02020603050405020304" pitchFamily="18" charset="0"/>
                <a:cs typeface="Times New Roman" panose="02020603050405020304" pitchFamily="18" charset="0"/>
              </a:rPr>
              <a:t>Patch Extraction</a:t>
            </a:r>
            <a:endParaRPr lang="en-IN" sz="2400" b="1" dirty="0">
              <a:latin typeface="Times New Roman" panose="02020603050405020304" pitchFamily="18" charset="0"/>
              <a:cs typeface="Times New Roman" panose="02020603050405020304" pitchFamily="18" charset="0"/>
            </a:endParaRPr>
          </a:p>
        </p:txBody>
      </p:sp>
      <p:sp>
        <p:nvSpPr>
          <p:cNvPr id="3" name="Text Box 2"/>
          <p:cNvSpPr txBox="1"/>
          <p:nvPr/>
        </p:nvSpPr>
        <p:spPr>
          <a:xfrm>
            <a:off x="838200" y="1099820"/>
            <a:ext cx="10791190" cy="5256530"/>
          </a:xfrm>
          <a:prstGeom prst="rect">
            <a:avLst/>
          </a:prstGeom>
          <a:noFill/>
        </p:spPr>
        <p:txBody>
          <a:bodyPr wrap="square" rtlCol="0">
            <a:noAutofit/>
          </a:bodyPr>
          <a:p>
            <a:pPr>
              <a:lnSpc>
                <a:spcPct val="150000"/>
              </a:lnSpc>
            </a:pPr>
            <a:r>
              <a:rPr lang="en-IN" altLang="en-US" sz="2000" b="1">
                <a:latin typeface="Times New Roman" panose="02020603050405020304" pitchFamily="18" charset="0"/>
                <a:cs typeface="Times New Roman" panose="02020603050405020304" pitchFamily="18" charset="0"/>
              </a:rPr>
              <a:t>1. </a:t>
            </a:r>
            <a:r>
              <a:rPr lang="en-US" altLang="en-US" sz="2000" b="1">
                <a:latin typeface="Times New Roman" panose="02020603050405020304" pitchFamily="18" charset="0"/>
                <a:cs typeface="Times New Roman" panose="02020603050405020304" pitchFamily="18" charset="0"/>
              </a:rPr>
              <a:t>Divides the fingerprint into small patches</a:t>
            </a:r>
            <a:endParaRPr lang="en-US" altLang="en-US" sz="2000" b="1">
              <a:latin typeface="Times New Roman" panose="02020603050405020304" pitchFamily="18" charset="0"/>
              <a:cs typeface="Times New Roman" panose="02020603050405020304" pitchFamily="18" charset="0"/>
            </a:endParaRPr>
          </a:p>
          <a:p>
            <a:pPr>
              <a:lnSpc>
                <a:spcPct val="150000"/>
              </a:lnSpc>
            </a:pPr>
            <a:r>
              <a:rPr lang="en-US" altLang="en-US"/>
              <a:t>➤</a:t>
            </a:r>
            <a:r>
              <a:rPr lang="en-US" altLang="en-US">
                <a:latin typeface="Times New Roman" panose="02020603050405020304" pitchFamily="18" charset="0"/>
                <a:cs typeface="Times New Roman" panose="02020603050405020304" pitchFamily="18" charset="0"/>
              </a:rPr>
              <a:t> The fingerprint image is split into small regions (patches) for local analysis.</a:t>
            </a:r>
            <a:endParaRPr lang="en-US" altLang="en-US">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Typical patch size: 16×16 or 32×32 pixels, depending on image resolution.</a:t>
            </a:r>
            <a:endParaRPr lang="en-US" altLang="en-US">
              <a:latin typeface="Times New Roman" panose="02020603050405020304" pitchFamily="18" charset="0"/>
              <a:cs typeface="Times New Roman" panose="02020603050405020304" pitchFamily="18" charset="0"/>
            </a:endParaRPr>
          </a:p>
          <a:p>
            <a:pPr>
              <a:lnSpc>
                <a:spcPct val="150000"/>
              </a:lnSpc>
            </a:pPr>
            <a:r>
              <a:rPr lang="en-IN" altLang="en-US" sz="2000" b="1">
                <a:latin typeface="Times New Roman" panose="02020603050405020304" pitchFamily="18" charset="0"/>
                <a:cs typeface="Times New Roman" panose="02020603050405020304" pitchFamily="18" charset="0"/>
              </a:rPr>
              <a:t>2. </a:t>
            </a:r>
            <a:r>
              <a:rPr lang="en-US" altLang="en-US" sz="2000" b="1">
                <a:latin typeface="Times New Roman" panose="02020603050405020304" pitchFamily="18" charset="0"/>
                <a:cs typeface="Times New Roman" panose="02020603050405020304" pitchFamily="18" charset="0"/>
              </a:rPr>
              <a:t>Focuses on local ridge details</a:t>
            </a:r>
            <a:endParaRPr lang="en-US" altLang="en-US" sz="2000" b="1">
              <a:latin typeface="Times New Roman" panose="02020603050405020304" pitchFamily="18" charset="0"/>
              <a:cs typeface="Times New Roman" panose="02020603050405020304" pitchFamily="18" charset="0"/>
            </a:endParaRPr>
          </a:p>
          <a:p>
            <a:pPr>
              <a:lnSpc>
                <a:spcPct val="150000"/>
              </a:lnSpc>
            </a:pPr>
            <a:r>
              <a:rPr lang="en-US" altLang="en-US"/>
              <a:t>➤ </a:t>
            </a:r>
            <a:r>
              <a:rPr lang="en-US" altLang="en-US">
                <a:latin typeface="Times New Roman" panose="02020603050405020304" pitchFamily="18" charset="0"/>
                <a:cs typeface="Times New Roman" panose="02020603050405020304" pitchFamily="18" charset="0"/>
              </a:rPr>
              <a:t>Each patch captures ridge direction and spacing in a small area.</a:t>
            </a:r>
            <a:endParaRPr lang="en-US" altLang="en-US">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Helps in understanding local texture variations clearly.</a:t>
            </a:r>
            <a:endParaRPr lang="en-US" altLang="en-US">
              <a:latin typeface="Times New Roman" panose="02020603050405020304" pitchFamily="18" charset="0"/>
              <a:cs typeface="Times New Roman" panose="02020603050405020304" pitchFamily="18" charset="0"/>
            </a:endParaRPr>
          </a:p>
          <a:p>
            <a:pPr>
              <a:lnSpc>
                <a:spcPct val="150000"/>
              </a:lnSpc>
            </a:pPr>
            <a:r>
              <a:rPr lang="en-IN" altLang="en-US" sz="2000" b="1">
                <a:latin typeface="Times New Roman" panose="02020603050405020304" pitchFamily="18" charset="0"/>
                <a:cs typeface="Times New Roman" panose="02020603050405020304" pitchFamily="18" charset="0"/>
              </a:rPr>
              <a:t>3. </a:t>
            </a:r>
            <a:r>
              <a:rPr lang="en-US" altLang="en-US" sz="2000" b="1">
                <a:latin typeface="Times New Roman" panose="02020603050405020304" pitchFamily="18" charset="0"/>
                <a:cs typeface="Times New Roman" panose="02020603050405020304" pitchFamily="18" charset="0"/>
              </a:rPr>
              <a:t>Uses preprocessed images</a:t>
            </a:r>
            <a:endParaRPr lang="en-US" altLang="en-US" sz="2000" b="1">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Patches are extracted after XSFFE and SNFFE preprocessing, ensuring</a:t>
            </a:r>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clean and normalized inputs for </a:t>
            </a:r>
            <a:r>
              <a:rPr lang="en-IN" altLang="en-US">
                <a:latin typeface="Times New Roman" panose="02020603050405020304" pitchFamily="18" charset="0"/>
                <a:cs typeface="Times New Roman" panose="02020603050405020304" pitchFamily="18" charset="0"/>
              </a:rPr>
              <a:t>     </a:t>
            </a:r>
            <a:endParaRPr lang="en-IN" altLang="en-US">
              <a:latin typeface="Times New Roman" panose="02020603050405020304" pitchFamily="18" charset="0"/>
              <a:cs typeface="Times New Roman" panose="02020603050405020304" pitchFamily="18" charset="0"/>
            </a:endParaRPr>
          </a:p>
          <a:p>
            <a:pPr>
              <a:lnSpc>
                <a:spcPct val="150000"/>
              </a:lnSpc>
            </a:pPr>
            <a:r>
              <a:rPr lang="en-IN" alt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training.</a:t>
            </a:r>
            <a:endParaRPr lang="en-US" altLang="en-US">
              <a:latin typeface="Times New Roman" panose="02020603050405020304" pitchFamily="18" charset="0"/>
              <a:cs typeface="Times New Roman" panose="02020603050405020304" pitchFamily="18" charset="0"/>
            </a:endParaRPr>
          </a:p>
          <a:p>
            <a:pPr>
              <a:lnSpc>
                <a:spcPct val="150000"/>
              </a:lnSpc>
            </a:pPr>
            <a:r>
              <a:rPr lang="en-IN" altLang="en-US" sz="2000" b="1">
                <a:latin typeface="Times New Roman" panose="02020603050405020304" pitchFamily="18" charset="0"/>
                <a:cs typeface="Times New Roman" panose="02020603050405020304" pitchFamily="18" charset="0"/>
              </a:rPr>
              <a:t>4. </a:t>
            </a:r>
            <a:r>
              <a:rPr lang="en-US" altLang="en-US" sz="2000" b="1">
                <a:latin typeface="Times New Roman" panose="02020603050405020304" pitchFamily="18" charset="0"/>
                <a:cs typeface="Times New Roman" panose="02020603050405020304" pitchFamily="18" charset="0"/>
              </a:rPr>
              <a:t>Input for Adaptive CNN model</a:t>
            </a:r>
            <a:endParaRPr lang="en-US" altLang="en-US" sz="2000" b="1">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The extracted patches are given to the Adaptive CNN for orientation and frequency estimation,</a:t>
            </a:r>
            <a:endParaRPr lang="en-US" altLang="en-US">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Enabling dense pixel-wise supervision and higher accuracy.</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0" name="Title 1"/>
          <p:cNvSpPr txBox="1"/>
          <p:nvPr/>
        </p:nvSpPr>
        <p:spPr>
          <a:xfrm>
            <a:off x="2460408" y="-627227"/>
            <a:ext cx="10515600" cy="6635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Data Set</a:t>
            </a:r>
            <a:endParaRPr lang="en-IN" sz="2400" b="1" dirty="0">
              <a:latin typeface="Times New Roman" panose="02020603050405020304" pitchFamily="18" charset="0"/>
              <a:cs typeface="Times New Roman" panose="02020603050405020304" pitchFamily="18" charset="0"/>
            </a:endParaRPr>
          </a:p>
        </p:txBody>
      </p:sp>
      <p:sp>
        <p:nvSpPr>
          <p:cNvPr id="2" name="Title 1"/>
          <p:cNvSpPr txBox="1"/>
          <p:nvPr/>
        </p:nvSpPr>
        <p:spPr>
          <a:xfrm>
            <a:off x="659765" y="561975"/>
            <a:ext cx="9956800" cy="6845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4. Models:</a:t>
            </a:r>
            <a:endParaRPr lang="en-IN" sz="2400" b="1"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1214772" y="5680320"/>
            <a:ext cx="6503436" cy="368300"/>
          </a:xfrm>
          <a:prstGeom prst="rect">
            <a:avLst/>
          </a:prstGeom>
          <a:noFill/>
        </p:spPr>
        <p:txBody>
          <a:bodyPr wrap="square">
            <a:spAutoFit/>
          </a:bodyPr>
          <a:lstStyle/>
          <a:p>
            <a:pPr marL="457200" indent="0" algn="l" rtl="0" eaLnBrk="1" latinLnBrk="0" hangingPunct="1"/>
            <a:endParaRPr lang="en-IN" dirty="0">
              <a:effectLst/>
            </a:endParaRPr>
          </a:p>
        </p:txBody>
      </p:sp>
      <p:sp>
        <p:nvSpPr>
          <p:cNvPr id="8" name="Text Box 7"/>
          <p:cNvSpPr txBox="1"/>
          <p:nvPr/>
        </p:nvSpPr>
        <p:spPr>
          <a:xfrm>
            <a:off x="984885" y="1003300"/>
            <a:ext cx="10368915" cy="5174615"/>
          </a:xfrm>
          <a:prstGeom prst="rect">
            <a:avLst/>
          </a:prstGeom>
          <a:noFill/>
        </p:spPr>
        <p:txBody>
          <a:bodyPr wrap="square" rtlCol="0">
            <a:noAutofit/>
          </a:bodyPr>
          <a:p>
            <a:pPr>
              <a:lnSpc>
                <a:spcPct val="150000"/>
              </a:lnSpc>
            </a:pPr>
            <a:r>
              <a:rPr lang="en-IN" altLang="en-US" sz="2000" b="1">
                <a:latin typeface="Times New Roman" panose="02020603050405020304" pitchFamily="18" charset="0"/>
                <a:cs typeface="Times New Roman" panose="02020603050405020304" pitchFamily="18" charset="0"/>
              </a:rPr>
              <a:t>1. </a:t>
            </a:r>
            <a:r>
              <a:rPr lang="en-US" altLang="en-US" sz="2000" b="1">
                <a:latin typeface="Times New Roman" panose="02020603050405020304" pitchFamily="18" charset="0"/>
                <a:cs typeface="Times New Roman" panose="02020603050405020304" pitchFamily="18" charset="0"/>
              </a:rPr>
              <a:t>Adaptive CNN Model</a:t>
            </a:r>
            <a:endParaRPr lang="en-US" altLang="en-US" sz="2000" b="1">
              <a:latin typeface="Times New Roman" panose="02020603050405020304" pitchFamily="18" charset="0"/>
              <a:cs typeface="Times New Roman" panose="02020603050405020304" pitchFamily="18" charset="0"/>
            </a:endParaRPr>
          </a:p>
          <a:p>
            <a:pPr>
              <a:lnSpc>
                <a:spcPct val="150000"/>
              </a:lnSpc>
            </a:pPr>
            <a:r>
              <a:rPr lang="en-US" altLang="en-US"/>
              <a:t>➤ </a:t>
            </a:r>
            <a:r>
              <a:rPr lang="en-US" altLang="en-US">
                <a:latin typeface="Times New Roman" panose="02020603050405020304" pitchFamily="18" charset="0"/>
                <a:cs typeface="Times New Roman" panose="02020603050405020304" pitchFamily="18" charset="0"/>
              </a:rPr>
              <a:t>The core model that simultaneously estimates ridge orientation and frequency</a:t>
            </a:r>
            <a:r>
              <a:rPr lang="en-US" altLang="en-US" b="1">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from fingerprint images.</a:t>
            </a:r>
            <a:endParaRPr lang="en-US" altLang="en-US">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It adapts to </a:t>
            </a:r>
            <a:r>
              <a:rPr lang="en-US" altLang="en-US">
                <a:latin typeface="Times New Roman" panose="02020603050405020304" pitchFamily="18" charset="0"/>
                <a:cs typeface="Times New Roman" panose="02020603050405020304" pitchFamily="18" charset="0"/>
              </a:rPr>
              <a:t>local ridge structures, making it robust to noise and distortions.</a:t>
            </a:r>
            <a:endParaRPr lang="en-US" altLang="en-US">
              <a:latin typeface="Times New Roman" panose="02020603050405020304" pitchFamily="18" charset="0"/>
              <a:cs typeface="Times New Roman" panose="02020603050405020304" pitchFamily="18" charset="0"/>
            </a:endParaRPr>
          </a:p>
          <a:p>
            <a:pPr>
              <a:lnSpc>
                <a:spcPct val="150000"/>
              </a:lnSpc>
            </a:pPr>
            <a:r>
              <a:rPr lang="en-IN" altLang="en-US" sz="2000" b="1">
                <a:latin typeface="Times New Roman" panose="02020603050405020304" pitchFamily="18" charset="0"/>
                <a:cs typeface="Times New Roman" panose="02020603050405020304" pitchFamily="18" charset="0"/>
              </a:rPr>
              <a:t>2. </a:t>
            </a:r>
            <a:r>
              <a:rPr lang="en-US" altLang="en-US" sz="2000" b="1">
                <a:latin typeface="Times New Roman" panose="02020603050405020304" pitchFamily="18" charset="0"/>
                <a:cs typeface="Times New Roman" panose="02020603050405020304" pitchFamily="18" charset="0"/>
              </a:rPr>
              <a:t>SNFFE (Synthetic Normalized Fingerprint Feature Extraction)</a:t>
            </a:r>
            <a:endParaRPr lang="en-US" altLang="en-US">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A specialized model that </a:t>
            </a:r>
            <a:r>
              <a:rPr lang="en-US" altLang="en-US">
                <a:latin typeface="Times New Roman" panose="02020603050405020304" pitchFamily="18" charset="0"/>
                <a:cs typeface="Times New Roman" panose="02020603050405020304" pitchFamily="18" charset="0"/>
              </a:rPr>
              <a:t>normalizes brightness, contrast, and ridge sharpness.</a:t>
            </a:r>
            <a:endParaRPr lang="en-US" altLang="en-US">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Learns ridge frequency directly, outperforming </a:t>
            </a:r>
            <a:r>
              <a:rPr lang="en-US" altLang="en-US">
                <a:latin typeface="Times New Roman" panose="02020603050405020304" pitchFamily="18" charset="0"/>
                <a:cs typeface="Times New Roman" panose="02020603050405020304" pitchFamily="18" charset="0"/>
              </a:rPr>
              <a:t>traditional FFT-based methods.</a:t>
            </a:r>
            <a:endParaRPr lang="en-US" altLang="en-US">
              <a:latin typeface="Times New Roman" panose="02020603050405020304" pitchFamily="18" charset="0"/>
              <a:cs typeface="Times New Roman" panose="02020603050405020304" pitchFamily="18" charset="0"/>
            </a:endParaRPr>
          </a:p>
          <a:p>
            <a:pPr>
              <a:lnSpc>
                <a:spcPct val="150000"/>
              </a:lnSpc>
            </a:pPr>
            <a:r>
              <a:rPr lang="en-IN" altLang="en-US" sz="2000" b="1">
                <a:latin typeface="Times New Roman" panose="02020603050405020304" pitchFamily="18" charset="0"/>
                <a:cs typeface="Times New Roman" panose="02020603050405020304" pitchFamily="18" charset="0"/>
              </a:rPr>
              <a:t>3. </a:t>
            </a:r>
            <a:r>
              <a:rPr lang="en-US" altLang="en-US" sz="2000" b="1">
                <a:latin typeface="Times New Roman" panose="02020603050405020304" pitchFamily="18" charset="0"/>
                <a:cs typeface="Times New Roman" panose="02020603050405020304" pitchFamily="18" charset="0"/>
              </a:rPr>
              <a:t>Orientation Estimation Module</a:t>
            </a:r>
            <a:endParaRPr lang="en-US" altLang="en-US" sz="2000" b="1">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Predicts the </a:t>
            </a:r>
            <a:r>
              <a:rPr lang="en-US" altLang="en-US">
                <a:latin typeface="Times New Roman" panose="02020603050405020304" pitchFamily="18" charset="0"/>
                <a:cs typeface="Times New Roman" panose="02020603050405020304" pitchFamily="18" charset="0"/>
              </a:rPr>
              <a:t>direction of ridges at each pixel using dense pixel-wise supervision.</a:t>
            </a:r>
            <a:endParaRPr lang="en-US" altLang="en-US">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Improves the accuracy of orientation field mapping in both clean and noisy fingerprints.</a:t>
            </a:r>
            <a:endParaRPr lang="en-US" altLang="en-US">
              <a:latin typeface="Times New Roman" panose="02020603050405020304" pitchFamily="18" charset="0"/>
              <a:cs typeface="Times New Roman" panose="02020603050405020304" pitchFamily="18" charset="0"/>
            </a:endParaRPr>
          </a:p>
          <a:p>
            <a:pPr>
              <a:lnSpc>
                <a:spcPct val="150000"/>
              </a:lnSpc>
            </a:pPr>
            <a:r>
              <a:rPr lang="en-IN" altLang="en-US" sz="2000" b="1">
                <a:latin typeface="Times New Roman" panose="02020603050405020304" pitchFamily="18" charset="0"/>
                <a:cs typeface="Times New Roman" panose="02020603050405020304" pitchFamily="18" charset="0"/>
              </a:rPr>
              <a:t>4. </a:t>
            </a:r>
            <a:r>
              <a:rPr lang="en-US" altLang="en-US" sz="2000" b="1">
                <a:latin typeface="Times New Roman" panose="02020603050405020304" pitchFamily="18" charset="0"/>
                <a:cs typeface="Times New Roman" panose="02020603050405020304" pitchFamily="18" charset="0"/>
              </a:rPr>
              <a:t>Frequency Estimation Module</a:t>
            </a:r>
            <a:endParaRPr lang="en-US" altLang="en-US" sz="2000" b="1">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Estimates ridge spacing (frequency) between consecutive ridges.</a:t>
            </a:r>
            <a:endParaRPr lang="en-US" altLang="en-US">
              <a:latin typeface="Times New Roman" panose="02020603050405020304" pitchFamily="18" charset="0"/>
              <a:cs typeface="Times New Roman" panose="02020603050405020304" pitchFamily="18" charset="0"/>
            </a:endParaRPr>
          </a:p>
          <a:p>
            <a:pPr>
              <a:lnSpc>
                <a:spcPct val="150000"/>
              </a:lnSpc>
            </a:pPr>
            <a:r>
              <a:rPr lang="en-US" altLang="en-US">
                <a:latin typeface="Times New Roman" panose="02020603050405020304" pitchFamily="18" charset="0"/>
                <a:cs typeface="Times New Roman" panose="02020603050405020304" pitchFamily="18" charset="0"/>
              </a:rPr>
              <a:t>➤ Provides smooth frequency maps that are essential for enhancement and minutiae detection.</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2" name="Text Box 1"/>
          <p:cNvSpPr txBox="1"/>
          <p:nvPr/>
        </p:nvSpPr>
        <p:spPr>
          <a:xfrm>
            <a:off x="426720" y="782955"/>
            <a:ext cx="5804535" cy="4914900"/>
          </a:xfrm>
          <a:prstGeom prst="rect">
            <a:avLst/>
          </a:prstGeom>
          <a:noFill/>
        </p:spPr>
        <p:txBody>
          <a:bodyPr wrap="square" rtlCol="0">
            <a:noAutofit/>
          </a:bodyPr>
          <a:p>
            <a:pPr algn="just"/>
            <a:r>
              <a:rPr lang="en-US" altLang="en-IN" b="1">
                <a:latin typeface="Times New Roman" panose="02020603050405020304" pitchFamily="18" charset="0"/>
                <a:cs typeface="Times New Roman" panose="02020603050405020304" pitchFamily="18" charset="0"/>
                <a:sym typeface="+mn-ea"/>
              </a:rPr>
              <a:t>5</a:t>
            </a:r>
            <a:r>
              <a:rPr lang="en-IN" altLang="en-US" b="1">
                <a:latin typeface="Times New Roman" panose="02020603050405020304" pitchFamily="18" charset="0"/>
                <a:cs typeface="Times New Roman" panose="02020603050405020304" pitchFamily="18" charset="0"/>
                <a:sym typeface="+mn-ea"/>
              </a:rPr>
              <a:t>.</a:t>
            </a:r>
            <a:r>
              <a:rPr lang="en-IN" altLang="en-US" b="1">
                <a:latin typeface="Times New Roman" panose="02020603050405020304" pitchFamily="18" charset="0"/>
                <a:sym typeface="+mn-ea"/>
              </a:rPr>
              <a:t> </a:t>
            </a:r>
            <a:r>
              <a:rPr lang="en-US" altLang="en-IN" sz="2000" b="1">
                <a:latin typeface="Times New Roman" panose="02020603050405020304" pitchFamily="18" charset="0"/>
                <a:sym typeface="+mn-ea"/>
              </a:rPr>
              <a:t>Orientation + Frequency </a:t>
            </a:r>
            <a:r>
              <a:rPr lang="en-IN" altLang="en-US" sz="2000" b="1">
                <a:latin typeface="Times New Roman" panose="02020603050405020304" pitchFamily="18" charset="0"/>
                <a:sym typeface="+mn-ea"/>
              </a:rPr>
              <a:t>:</a:t>
            </a:r>
            <a:r>
              <a:rPr lang="en-IN" altLang="en-US">
                <a:latin typeface="Arial" panose="020B0604020202020204" pitchFamily="34" charset="0"/>
                <a:sym typeface="+mn-ea"/>
              </a:rPr>
              <a:t> </a:t>
            </a:r>
            <a:r>
              <a:rPr lang="en-US" altLang="en-US">
                <a:latin typeface="Times New Roman" panose="02020603050405020304" pitchFamily="18" charset="0"/>
                <a:cs typeface="Times New Roman" panose="02020603050405020304" pitchFamily="18" charset="0"/>
                <a:sym typeface="+mn-ea"/>
              </a:rPr>
              <a:t>Orientation and frequency maps show ridge direction and spacing, helping the model analyze fingerprint patterns more accurately.</a:t>
            </a:r>
            <a:endParaRPr lang="en-US" altLang="en-US">
              <a:latin typeface="Times New Roman" panose="02020603050405020304" pitchFamily="18" charset="0"/>
              <a:cs typeface="Times New Roman" panose="02020603050405020304" pitchFamily="18" charset="0"/>
              <a:sym typeface="+mn-ea"/>
            </a:endParaRPr>
          </a:p>
          <a:p>
            <a:pPr algn="just"/>
            <a:endParaRPr lang="en-US" altLang="en-US">
              <a:latin typeface="Times New Roman" panose="02020603050405020304" pitchFamily="18" charset="0"/>
              <a:cs typeface="Times New Roman" panose="02020603050405020304" pitchFamily="18" charset="0"/>
              <a:sym typeface="+mn-ea"/>
            </a:endParaRPr>
          </a:p>
        </p:txBody>
      </p:sp>
      <p:pic>
        <p:nvPicPr>
          <p:cNvPr id="22540" name="Picture 2" descr="local"/>
          <p:cNvPicPr>
            <a:picLocks noChangeAspect="1"/>
          </p:cNvPicPr>
          <p:nvPr/>
        </p:nvPicPr>
        <p:blipFill>
          <a:blip r:embed="rId1"/>
          <a:stretch>
            <a:fillRect/>
          </a:stretch>
        </p:blipFill>
        <p:spPr>
          <a:xfrm>
            <a:off x="6767830" y="2425700"/>
            <a:ext cx="4888230" cy="2936875"/>
          </a:xfrm>
          <a:prstGeom prst="rect">
            <a:avLst/>
          </a:prstGeom>
          <a:noFill/>
          <a:ln w="9525">
            <a:noFill/>
          </a:ln>
        </p:spPr>
      </p:pic>
      <p:sp>
        <p:nvSpPr>
          <p:cNvPr id="3" name="Text Box 2"/>
          <p:cNvSpPr txBox="1"/>
          <p:nvPr/>
        </p:nvSpPr>
        <p:spPr>
          <a:xfrm>
            <a:off x="8153400" y="5440680"/>
            <a:ext cx="3200400" cy="368300"/>
          </a:xfrm>
          <a:prstGeom prst="rect">
            <a:avLst/>
          </a:prstGeom>
          <a:noFill/>
        </p:spPr>
        <p:txBody>
          <a:bodyPr wrap="square" rtlCol="0">
            <a:spAutoFit/>
          </a:bodyPr>
          <a:p>
            <a:pPr algn="just"/>
            <a:r>
              <a:rPr lang="en-US" altLang="en-IN" b="1">
                <a:latin typeface="Times New Roman" panose="02020603050405020304" pitchFamily="18" charset="0"/>
                <a:cs typeface="Times New Roman" panose="02020603050405020304" pitchFamily="18" charset="0"/>
              </a:rPr>
              <a:t>Grayscale Image</a:t>
            </a:r>
            <a:endParaRPr lang="en-US" altLang="en-IN" b="1">
              <a:latin typeface="Times New Roman" panose="02020603050405020304" pitchFamily="18" charset="0"/>
              <a:cs typeface="Times New Roman" panose="02020603050405020304" pitchFamily="18" charset="0"/>
            </a:endParaRPr>
          </a:p>
        </p:txBody>
      </p:sp>
      <p:pic>
        <p:nvPicPr>
          <p:cNvPr id="24588" name="Picture 2" descr="ChatGPT Image Oct 18, 2025, 10_25_23 PM"/>
          <p:cNvPicPr>
            <a:picLocks noChangeAspect="1"/>
          </p:cNvPicPr>
          <p:nvPr/>
        </p:nvPicPr>
        <p:blipFill>
          <a:blip r:embed="rId2"/>
          <a:stretch>
            <a:fillRect/>
          </a:stretch>
        </p:blipFill>
        <p:spPr>
          <a:xfrm>
            <a:off x="737870" y="2004060"/>
            <a:ext cx="5238115" cy="3584575"/>
          </a:xfrm>
          <a:prstGeom prst="rect">
            <a:avLst/>
          </a:prstGeom>
          <a:noFill/>
          <a:ln w="9525">
            <a:noFill/>
          </a:ln>
        </p:spPr>
      </p:pic>
      <p:sp>
        <p:nvSpPr>
          <p:cNvPr id="8" name="Text Box 7"/>
          <p:cNvSpPr txBox="1"/>
          <p:nvPr/>
        </p:nvSpPr>
        <p:spPr>
          <a:xfrm>
            <a:off x="6768465" y="782955"/>
            <a:ext cx="4887595" cy="1358265"/>
          </a:xfrm>
          <a:prstGeom prst="rect">
            <a:avLst/>
          </a:prstGeom>
          <a:noFill/>
        </p:spPr>
        <p:txBody>
          <a:bodyPr wrap="square" rtlCol="0">
            <a:noAutofit/>
          </a:bodyPr>
          <a:p>
            <a:r>
              <a:rPr lang="en-US" sz="2000" b="1">
                <a:latin typeface="Times New Roman" panose="02020603050405020304" pitchFamily="18" charset="0"/>
                <a:cs typeface="Times New Roman" panose="02020603050405020304" pitchFamily="18" charset="0"/>
              </a:rPr>
              <a:t>6. Filling Missing Values :</a:t>
            </a:r>
            <a:r>
              <a:rPr 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Filling missing values restores incomplete or noisy ridge data, ensuring a smooth and continuous fingerprint pattern.</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838200" y="864870"/>
            <a:ext cx="10515600" cy="53130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altLang="en-US" sz="2000">
                <a:latin typeface="Times New Roman" panose="02020603050405020304" pitchFamily="18" charset="0"/>
                <a:cs typeface="Times New Roman" panose="02020603050405020304" pitchFamily="18" charset="0"/>
                <a:sym typeface="+mn-ea"/>
              </a:rPr>
              <a:t>7.</a:t>
            </a:r>
            <a:r>
              <a:rPr lang="en-IN" altLang="en-US" sz="2000" b="1">
                <a:latin typeface="Times New Roman" panose="02020603050405020304" pitchFamily="18" charset="0"/>
                <a:cs typeface="Times New Roman" panose="02020603050405020304" pitchFamily="18" charset="0"/>
                <a:sym typeface="+mn-ea"/>
              </a:rPr>
              <a:t> </a:t>
            </a:r>
            <a:r>
              <a:rPr lang="en-US" altLang="en-US" sz="2000" b="1">
                <a:latin typeface="Times New Roman" panose="02020603050405020304" pitchFamily="18" charset="0"/>
                <a:cs typeface="Times New Roman" panose="02020603050405020304" pitchFamily="18" charset="0"/>
                <a:sym typeface="+mn-ea"/>
              </a:rPr>
              <a:t>Post-processing</a:t>
            </a:r>
            <a:r>
              <a:rPr lang="en-IN" altLang="en-US" sz="2000" b="1">
                <a:latin typeface="Times New Roman" panose="02020603050405020304" pitchFamily="18" charset="0"/>
                <a:cs typeface="Times New Roman" panose="02020603050405020304" pitchFamily="18" charset="0"/>
                <a:sym typeface="+mn-ea"/>
              </a:rPr>
              <a:t>:</a:t>
            </a:r>
            <a:r>
              <a:rPr lang="en-IN" altLang="en-US" sz="2000">
                <a:latin typeface="Times New Roman" panose="02020603050405020304" pitchFamily="18" charset="0"/>
                <a:cs typeface="Times New Roman" panose="02020603050405020304" pitchFamily="18" charset="0"/>
                <a:sym typeface="+mn-ea"/>
              </a:rPr>
              <a:t> </a:t>
            </a:r>
            <a:r>
              <a:rPr lang="en-US" altLang="en-US" sz="2000">
                <a:latin typeface="Times New Roman" panose="02020603050405020304" pitchFamily="18" charset="0"/>
                <a:sym typeface="+mn-ea"/>
              </a:rPr>
              <a:t>Gaussian smoothing, orientation smoothing, median filtering for frequency,</a:t>
            </a:r>
            <a:endParaRPr lang="en-US" altLang="en-US" sz="2000">
              <a:latin typeface="Times New Roman" panose="02020603050405020304" pitchFamily="18" charset="0"/>
            </a:endParaRPr>
          </a:p>
          <a:p>
            <a:pPr marL="0" indent="0">
              <a:buNone/>
            </a:pPr>
            <a:r>
              <a:rPr lang="en-US" altLang="en-US" sz="2000">
                <a:latin typeface="Times New Roman" panose="02020603050405020304" pitchFamily="18" charset="0"/>
                <a:sym typeface="+mn-ea"/>
              </a:rPr>
              <a:t> </a:t>
            </a:r>
            <a:r>
              <a:rPr lang="en-IN" altLang="en-US" sz="2000">
                <a:latin typeface="Times New Roman" panose="02020603050405020304" pitchFamily="18" charset="0"/>
                <a:sym typeface="+mn-ea"/>
              </a:rPr>
              <a:t>  </a:t>
            </a:r>
            <a:r>
              <a:rPr lang="en-US" altLang="en-US" sz="2000">
                <a:latin typeface="Times New Roman" panose="02020603050405020304" pitchFamily="18" charset="0"/>
                <a:sym typeface="+mn-ea"/>
              </a:rPr>
              <a:t> and</a:t>
            </a:r>
            <a:r>
              <a:rPr lang="en-IN" altLang="en-US" sz="2000">
                <a:latin typeface="Times New Roman" panose="02020603050405020304" pitchFamily="18" charset="0"/>
                <a:sym typeface="+mn-ea"/>
              </a:rPr>
              <a:t> </a:t>
            </a:r>
            <a:r>
              <a:rPr lang="en-US" altLang="en-US" sz="2000">
                <a:latin typeface="Times New Roman" panose="02020603050405020304" pitchFamily="18" charset="0"/>
                <a:sym typeface="+mn-ea"/>
              </a:rPr>
              <a:t>map reconstruction.</a:t>
            </a:r>
            <a:endParaRPr lang="en-US" altLang="en-US" sz="2000">
              <a:latin typeface="Times New Roman" panose="02020603050405020304" pitchFamily="18" charset="0"/>
            </a:endParaRPr>
          </a:p>
          <a:p>
            <a:pPr marL="0" indent="0">
              <a:buNone/>
            </a:pPr>
            <a:r>
              <a:rPr lang="en-IN" altLang="en-US" sz="2000">
                <a:latin typeface="Times New Roman" panose="02020603050405020304" pitchFamily="18" charset="0"/>
                <a:cs typeface="Times New Roman" panose="02020603050405020304" pitchFamily="18" charset="0"/>
                <a:sym typeface="+mn-ea"/>
              </a:rPr>
              <a:t>8. </a:t>
            </a:r>
            <a:r>
              <a:rPr lang="en-US" altLang="en-US" sz="2000" b="1">
                <a:latin typeface="Times New Roman" panose="02020603050405020304" pitchFamily="18" charset="0"/>
                <a:cs typeface="Times New Roman" panose="02020603050405020304" pitchFamily="18" charset="0"/>
                <a:sym typeface="+mn-ea"/>
              </a:rPr>
              <a:t>Final output</a:t>
            </a:r>
            <a:r>
              <a:rPr lang="en-IN" altLang="en-US" sz="2000" b="1">
                <a:latin typeface="Times New Roman" panose="02020603050405020304" pitchFamily="18" charset="0"/>
                <a:cs typeface="Times New Roman" panose="02020603050405020304" pitchFamily="18" charset="0"/>
                <a:sym typeface="+mn-ea"/>
              </a:rPr>
              <a:t>:</a:t>
            </a:r>
            <a:r>
              <a:rPr lang="en-IN" altLang="en-US" sz="2000">
                <a:latin typeface="Times New Roman" panose="02020603050405020304" pitchFamily="18" charset="0"/>
                <a:cs typeface="Times New Roman" panose="02020603050405020304" pitchFamily="18" charset="0"/>
                <a:sym typeface="+mn-ea"/>
              </a:rPr>
              <a:t> </a:t>
            </a:r>
            <a:r>
              <a:rPr lang="en-US" altLang="en-US" sz="2000">
                <a:latin typeface="Times New Roman" panose="02020603050405020304" pitchFamily="18" charset="0"/>
                <a:sym typeface="+mn-ea"/>
              </a:rPr>
              <a:t>smooth, robust orientation &amp; frequency field ready for enhancement, minutiae </a:t>
            </a:r>
            <a:endParaRPr lang="en-US" altLang="en-US" sz="2000">
              <a:latin typeface="Times New Roman" panose="02020603050405020304" pitchFamily="18" charset="0"/>
            </a:endParaRPr>
          </a:p>
          <a:p>
            <a:pPr marL="0" indent="0">
              <a:buNone/>
            </a:pPr>
            <a:r>
              <a:rPr lang="en-US" altLang="en-US" sz="2000">
                <a:latin typeface="Times New Roman" panose="02020603050405020304" pitchFamily="18" charset="0"/>
                <a:sym typeface="+mn-ea"/>
              </a:rPr>
              <a:t> </a:t>
            </a:r>
            <a:r>
              <a:rPr lang="en-IN" altLang="en-US" sz="2000">
                <a:latin typeface="Times New Roman" panose="02020603050405020304" pitchFamily="18" charset="0"/>
                <a:sym typeface="+mn-ea"/>
              </a:rPr>
              <a:t>   </a:t>
            </a:r>
            <a:r>
              <a:rPr lang="en-US" altLang="en-US" sz="2000">
                <a:latin typeface="Times New Roman" panose="02020603050405020304" pitchFamily="18" charset="0"/>
                <a:sym typeface="+mn-ea"/>
              </a:rPr>
              <a:t>extraction, and matching.</a:t>
            </a:r>
            <a:endParaRPr lang="en-IN" sz="2000" dirty="0">
              <a:latin typeface="Times New Roman" panose="02020603050405020304" pitchFamily="18" charset="0"/>
              <a:cs typeface="Times New Roman" panose="02020603050405020304" pitchFamily="18" charset="0"/>
            </a:endParaRPr>
          </a:p>
        </p:txBody>
      </p:sp>
      <p:pic>
        <p:nvPicPr>
          <p:cNvPr id="2" name="Picture 1" descr="110"/>
          <p:cNvPicPr>
            <a:picLocks noChangeAspect="1"/>
          </p:cNvPicPr>
          <p:nvPr/>
        </p:nvPicPr>
        <p:blipFill>
          <a:blip r:embed="rId1"/>
          <a:stretch>
            <a:fillRect/>
          </a:stretch>
        </p:blipFill>
        <p:spPr>
          <a:xfrm>
            <a:off x="4343400" y="2440940"/>
            <a:ext cx="3810000" cy="34397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1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0" name="Title 1"/>
          <p:cNvSpPr txBox="1"/>
          <p:nvPr/>
        </p:nvSpPr>
        <p:spPr>
          <a:xfrm>
            <a:off x="2460408" y="-627227"/>
            <a:ext cx="10515600" cy="6635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Data Set</a:t>
            </a:r>
            <a:endParaRPr lang="en-IN" sz="2400" b="1" dirty="0">
              <a:latin typeface="Times New Roman" panose="02020603050405020304" pitchFamily="18" charset="0"/>
              <a:cs typeface="Times New Roman" panose="02020603050405020304" pitchFamily="18" charset="0"/>
            </a:endParaRPr>
          </a:p>
        </p:txBody>
      </p:sp>
      <p:sp>
        <p:nvSpPr>
          <p:cNvPr id="3" name="Title 1"/>
          <p:cNvSpPr>
            <a:spLocks noGrp="1"/>
          </p:cNvSpPr>
          <p:nvPr>
            <p:ph type="title"/>
          </p:nvPr>
        </p:nvSpPr>
        <p:spPr>
          <a:xfrm>
            <a:off x="374650" y="544195"/>
            <a:ext cx="10140950" cy="711200"/>
          </a:xfrm>
        </p:spPr>
        <p:txBody>
          <a:bodyPr>
            <a:normAutofit/>
          </a:bodyPr>
          <a:lstStyle/>
          <a:p>
            <a:r>
              <a:rPr lang="en-IN" altLang="en-US" sz="2800" b="1" dirty="0">
                <a:latin typeface="Times New Roman" panose="02020603050405020304" pitchFamily="18" charset="0"/>
                <a:cs typeface="Times New Roman" panose="02020603050405020304" pitchFamily="18" charset="0"/>
              </a:rPr>
              <a:t>Fingerprint </a:t>
            </a:r>
            <a:r>
              <a:rPr lang="en-US" sz="2800" b="1" dirty="0">
                <a:latin typeface="Times New Roman" panose="02020603050405020304" pitchFamily="18" charset="0"/>
                <a:cs typeface="Times New Roman" panose="02020603050405020304" pitchFamily="18" charset="0"/>
              </a:rPr>
              <a:t>Web Application Integration:</a:t>
            </a:r>
            <a:endParaRPr lang="en-IN" sz="2800" b="1" dirty="0">
              <a:latin typeface="Times New Roman" panose="02020603050405020304" pitchFamily="18" charset="0"/>
              <a:cs typeface="Times New Roman" panose="02020603050405020304" pitchFamily="18" charset="0"/>
            </a:endParaRPr>
          </a:p>
        </p:txBody>
      </p:sp>
      <p:sp>
        <p:nvSpPr>
          <p:cNvPr id="4" name="Content Placeholder 2"/>
          <p:cNvSpPr txBox="1"/>
          <p:nvPr/>
        </p:nvSpPr>
        <p:spPr>
          <a:xfrm>
            <a:off x="523875" y="1255395"/>
            <a:ext cx="10515600" cy="38747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sz="2000" b="1" dirty="0">
                <a:latin typeface="Times New Roman" panose="02020603050405020304" pitchFamily="18" charset="0"/>
                <a:cs typeface="Times New Roman" panose="02020603050405020304" pitchFamily="18" charset="0"/>
              </a:rPr>
              <a:t>Technologies Used:</a:t>
            </a:r>
            <a:endParaRPr lang="en-US" sz="2000" b="1"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Frontend</a:t>
            </a:r>
            <a:r>
              <a:rPr lang="en-US" sz="2000" dirty="0">
                <a:latin typeface="Times New Roman" panose="02020603050405020304" pitchFamily="18" charset="0"/>
                <a:cs typeface="Times New Roman" panose="02020603050405020304" pitchFamily="18" charset="0"/>
              </a:rPr>
              <a:t>: HTML, CSS, JavaScript (User interface for input and display)</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Backend</a:t>
            </a:r>
            <a:r>
              <a:rPr lang="en-US" sz="2000" dirty="0">
                <a:latin typeface="Times New Roman" panose="02020603050405020304" pitchFamily="18" charset="0"/>
                <a:cs typeface="Times New Roman" panose="02020603050405020304" pitchFamily="18" charset="0"/>
              </a:rPr>
              <a:t>: Flask/Django (Handling model integration and data processing)</a:t>
            </a:r>
            <a:endParaRPr lang="en-US" sz="2000" dirty="0">
              <a:latin typeface="Times New Roman" panose="02020603050405020304" pitchFamily="18" charset="0"/>
              <a:cs typeface="Times New Roman" panose="02020603050405020304" pitchFamily="18" charset="0"/>
            </a:endParaRPr>
          </a:p>
          <a:p>
            <a:pPr>
              <a:lnSpc>
                <a:spcPct val="150000"/>
              </a:lnSpc>
            </a:pPr>
            <a:r>
              <a:rPr lang="en-IN" altLang="en-US" sz="2000" b="1" dirty="0">
                <a:latin typeface="Times New Roman" panose="02020603050405020304" pitchFamily="18" charset="0"/>
                <a:cs typeface="Times New Roman" panose="02020603050405020304" pitchFamily="18" charset="0"/>
              </a:rPr>
              <a:t>Deep</a:t>
            </a:r>
            <a:r>
              <a:rPr lang="en-US" sz="2000" b="1" dirty="0">
                <a:latin typeface="Times New Roman" panose="02020603050405020304" pitchFamily="18" charset="0"/>
                <a:cs typeface="Times New Roman" panose="02020603050405020304" pitchFamily="18" charset="0"/>
              </a:rPr>
              <a:t> Learning</a:t>
            </a:r>
            <a:r>
              <a:rPr lang="en-US" sz="2000" dirty="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sym typeface="+mn-ea"/>
              </a:rPr>
              <a:t>Adaptive CNN Model</a:t>
            </a:r>
            <a:r>
              <a:rPr lang="en-IN" altLang="en-US" sz="2000">
                <a:latin typeface="Times New Roman" panose="02020603050405020304" pitchFamily="18" charset="0"/>
                <a:cs typeface="Times New Roman" panose="02020603050405020304" pitchFamily="18" charset="0"/>
                <a:sym typeface="+mn-ea"/>
              </a:rPr>
              <a:t>,</a:t>
            </a:r>
            <a:r>
              <a:rPr lang="en-IN" altLang="en-US" sz="2000" b="1">
                <a:latin typeface="Times New Roman" panose="02020603050405020304" pitchFamily="18" charset="0"/>
                <a:cs typeface="Times New Roman" panose="02020603050405020304" pitchFamily="18" charset="0"/>
                <a:sym typeface="+mn-ea"/>
              </a:rPr>
              <a:t> </a:t>
            </a:r>
            <a:r>
              <a:rPr lang="en-US" altLang="en-US" sz="2000">
                <a:latin typeface="Times New Roman" panose="02020603050405020304" pitchFamily="18" charset="0"/>
                <a:cs typeface="Times New Roman" panose="02020603050405020304" pitchFamily="18" charset="0"/>
                <a:sym typeface="+mn-ea"/>
              </a:rPr>
              <a:t>SNFFE </a:t>
            </a:r>
            <a:r>
              <a:rPr lang="en-IN" altLang="en-US" sz="2000">
                <a:latin typeface="Times New Roman" panose="02020603050405020304" pitchFamily="18" charset="0"/>
                <a:cs typeface="Times New Roman" panose="02020603050405020304" pitchFamily="18" charset="0"/>
                <a:sym typeface="+mn-ea"/>
              </a:rPr>
              <a:t>,</a:t>
            </a:r>
            <a:r>
              <a:rPr lang="en-US" altLang="en-US" sz="2000">
                <a:latin typeface="Times New Roman" panose="02020603050405020304" pitchFamily="18" charset="0"/>
                <a:cs typeface="Times New Roman" panose="02020603050405020304" pitchFamily="18" charset="0"/>
                <a:sym typeface="+mn-ea"/>
              </a:rPr>
              <a:t>Orientation</a:t>
            </a:r>
            <a:r>
              <a:rPr lang="en-IN" altLang="en-US" sz="2000">
                <a:latin typeface="Times New Roman" panose="02020603050405020304" pitchFamily="18" charset="0"/>
                <a:cs typeface="Times New Roman" panose="02020603050405020304" pitchFamily="18" charset="0"/>
                <a:sym typeface="+mn-ea"/>
              </a:rPr>
              <a:t>,</a:t>
            </a:r>
            <a:r>
              <a:rPr lang="en-US" altLang="en-US" sz="2000">
                <a:latin typeface="Times New Roman" panose="02020603050405020304" pitchFamily="18" charset="0"/>
                <a:cs typeface="Times New Roman" panose="02020603050405020304" pitchFamily="18" charset="0"/>
                <a:sym typeface="+mn-ea"/>
              </a:rPr>
              <a:t>Frequency</a:t>
            </a:r>
            <a:r>
              <a:rPr lang="en-US" altLang="en-US" sz="2000" b="1">
                <a:latin typeface="Times New Roman" panose="02020603050405020304" pitchFamily="18" charset="0"/>
                <a:cs typeface="Times New Roman" panose="02020603050405020304" pitchFamily="18" charset="0"/>
                <a:sym typeface="+mn-ea"/>
              </a:rPr>
              <a:t> </a:t>
            </a:r>
            <a:r>
              <a:rPr lang="en-US" sz="2000" dirty="0">
                <a:latin typeface="Times New Roman" panose="02020603050405020304" pitchFamily="18" charset="0"/>
                <a:cs typeface="Times New Roman" panose="02020603050405020304" pitchFamily="18" charset="0"/>
              </a:rPr>
              <a:t>(Prediction models)</a:t>
            </a:r>
            <a:endParaRPr lang="en-US" sz="2000"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sz="2000" b="1"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sz="2000" b="1"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sz="2000" b="1" dirty="0">
              <a:latin typeface="Times New Roman" panose="02020603050405020304" pitchFamily="18" charset="0"/>
              <a:cs typeface="Times New Roman" panose="02020603050405020304" pitchFamily="18" charset="0"/>
            </a:endParaRPr>
          </a:p>
          <a:p>
            <a:pPr marL="0" indent="0">
              <a:lnSpc>
                <a:spcPct val="150000"/>
              </a:lnSpc>
              <a:buFont typeface="Arial" panose="020B0604020202020204" pitchFamily="34" charset="0"/>
              <a:buNone/>
            </a:pPr>
            <a:endParaRPr lang="en-US"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20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0" name="Title 1"/>
          <p:cNvSpPr txBox="1"/>
          <p:nvPr/>
        </p:nvSpPr>
        <p:spPr>
          <a:xfrm>
            <a:off x="2460408" y="-627227"/>
            <a:ext cx="10515600" cy="6635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a:latin typeface="Times New Roman" panose="02020603050405020304" pitchFamily="18" charset="0"/>
                <a:cs typeface="Times New Roman" panose="02020603050405020304" pitchFamily="18" charset="0"/>
              </a:rPr>
              <a:t>Data Set</a:t>
            </a:r>
            <a:endParaRPr lang="en-IN" sz="2400" b="1" dirty="0">
              <a:latin typeface="Times New Roman" panose="02020603050405020304" pitchFamily="18" charset="0"/>
              <a:cs typeface="Times New Roman" panose="02020603050405020304" pitchFamily="18" charset="0"/>
            </a:endParaRPr>
          </a:p>
        </p:txBody>
      </p:sp>
      <p:pic>
        <p:nvPicPr>
          <p:cNvPr id="2" name="Picture 1" descr="Home"/>
          <p:cNvPicPr>
            <a:picLocks noChangeAspect="1"/>
          </p:cNvPicPr>
          <p:nvPr/>
        </p:nvPicPr>
        <p:blipFill>
          <a:blip r:embed="rId1"/>
          <a:stretch>
            <a:fillRect/>
          </a:stretch>
        </p:blipFill>
        <p:spPr>
          <a:xfrm>
            <a:off x="402590" y="624840"/>
            <a:ext cx="6348730" cy="5177155"/>
          </a:xfrm>
          <a:prstGeom prst="rect">
            <a:avLst/>
          </a:prstGeom>
        </p:spPr>
      </p:pic>
      <p:pic>
        <p:nvPicPr>
          <p:cNvPr id="3" name="Picture 2"/>
          <p:cNvPicPr>
            <a:picLocks noChangeAspect="1"/>
          </p:cNvPicPr>
          <p:nvPr/>
        </p:nvPicPr>
        <p:blipFill>
          <a:blip r:embed="rId2"/>
          <a:stretch>
            <a:fillRect/>
          </a:stretch>
        </p:blipFill>
        <p:spPr>
          <a:xfrm>
            <a:off x="7044690" y="229235"/>
            <a:ext cx="4667250" cy="3199130"/>
          </a:xfrm>
          <a:prstGeom prst="rect">
            <a:avLst/>
          </a:prstGeom>
        </p:spPr>
      </p:pic>
      <p:pic>
        <p:nvPicPr>
          <p:cNvPr id="4" name="Picture 3"/>
          <p:cNvPicPr>
            <a:picLocks noChangeAspect="1"/>
          </p:cNvPicPr>
          <p:nvPr/>
        </p:nvPicPr>
        <p:blipFill>
          <a:blip r:embed="rId3"/>
          <a:stretch>
            <a:fillRect/>
          </a:stretch>
        </p:blipFill>
        <p:spPr>
          <a:xfrm>
            <a:off x="7178040" y="3241040"/>
            <a:ext cx="4533900" cy="31153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5375" y="681037"/>
            <a:ext cx="10515600" cy="703587"/>
          </a:xfrm>
        </p:spPr>
        <p:txBody>
          <a:bodyPr>
            <a:noAutofit/>
          </a:bodyPr>
          <a:lstStyle/>
          <a:p>
            <a:r>
              <a:rPr lang="en-US" b="1" dirty="0">
                <a:latin typeface="Times New Roman" panose="02020603050405020304" pitchFamily="18" charset="0"/>
                <a:cs typeface="Times New Roman" panose="02020603050405020304" pitchFamily="18" charset="0"/>
              </a:rPr>
              <a:t>IMPLEMENTATION</a:t>
            </a:r>
            <a:br>
              <a:rPr lang="en-IN" b="1" dirty="0">
                <a:latin typeface="Times New Roman" panose="02020603050405020304" pitchFamily="18" charset="0"/>
                <a:cs typeface="Times New Roman" panose="02020603050405020304" pitchFamily="18" charset="0"/>
              </a:rPr>
            </a:br>
            <a:endParaRPr lang="en-IN" b="1" dirty="0"/>
          </a:p>
        </p:txBody>
      </p:sp>
      <p:sp>
        <p:nvSpPr>
          <p:cNvPr id="3" name="Content Placeholder 2"/>
          <p:cNvSpPr>
            <a:spLocks noGrp="1"/>
          </p:cNvSpPr>
          <p:nvPr>
            <p:ph idx="1"/>
          </p:nvPr>
        </p:nvSpPr>
        <p:spPr>
          <a:xfrm>
            <a:off x="838200" y="1253331"/>
            <a:ext cx="10515600" cy="4351338"/>
          </a:xfrm>
        </p:spPr>
        <p:txBody>
          <a:bodyPr/>
          <a:lstStyle/>
          <a:p>
            <a:pPr marL="12700" indent="0">
              <a:lnSpc>
                <a:spcPct val="100000"/>
              </a:lnSpc>
              <a:spcBef>
                <a:spcPts val="1515"/>
              </a:spcBef>
              <a:buNone/>
              <a:tabLst>
                <a:tab pos="241300" algn="l"/>
              </a:tabLst>
            </a:pPr>
            <a:r>
              <a:rPr lang="en-IN" sz="2600" b="1" u="sng" spc="-10" dirty="0">
                <a:latin typeface="Times New Roman" panose="02020603050405020304" pitchFamily="18" charset="0"/>
                <a:cs typeface="Times New Roman" panose="02020603050405020304" pitchFamily="18" charset="0"/>
              </a:rPr>
              <a:t>Software</a:t>
            </a:r>
            <a:r>
              <a:rPr lang="en-IN" sz="2600" b="1" u="sng" spc="-20" dirty="0">
                <a:latin typeface="Times New Roman" panose="02020603050405020304" pitchFamily="18" charset="0"/>
                <a:cs typeface="Times New Roman" panose="02020603050405020304" pitchFamily="18" charset="0"/>
              </a:rPr>
              <a:t> </a:t>
            </a:r>
            <a:r>
              <a:rPr lang="en-IN" sz="2600" b="1" u="sng" dirty="0">
                <a:latin typeface="Times New Roman" panose="02020603050405020304" pitchFamily="18" charset="0"/>
                <a:cs typeface="Times New Roman" panose="02020603050405020304" pitchFamily="18" charset="0"/>
              </a:rPr>
              <a:t>Specifications:</a:t>
            </a:r>
            <a:endParaRPr lang="en-IN" sz="2600" b="1" u="sng" dirty="0">
              <a:latin typeface="Times New Roman" panose="02020603050405020304" pitchFamily="18" charset="0"/>
              <a:cs typeface="Times New Roman" panose="02020603050405020304" pitchFamily="18" charset="0"/>
            </a:endParaRPr>
          </a:p>
          <a:p>
            <a:pPr marL="736600" lvl="1">
              <a:lnSpc>
                <a:spcPct val="100000"/>
              </a:lnSpc>
              <a:spcBef>
                <a:spcPts val="1170"/>
              </a:spcBef>
            </a:pPr>
            <a:r>
              <a:rPr lang="en-IN" sz="2100" b="0" spc="-15" dirty="0">
                <a:latin typeface="Times New Roman" panose="02020603050405020304" pitchFamily="18" charset="0"/>
                <a:cs typeface="Times New Roman" panose="02020603050405020304" pitchFamily="18" charset="0"/>
              </a:rPr>
              <a:t>Browser:</a:t>
            </a:r>
            <a:r>
              <a:rPr lang="en-IN" sz="2100" b="0" spc="-25" dirty="0">
                <a:latin typeface="Times New Roman" panose="02020603050405020304" pitchFamily="18" charset="0"/>
                <a:cs typeface="Times New Roman" panose="02020603050405020304" pitchFamily="18" charset="0"/>
              </a:rPr>
              <a:t> </a:t>
            </a:r>
            <a:r>
              <a:rPr lang="en-IN" sz="2100" b="0" spc="-10" dirty="0">
                <a:latin typeface="Times New Roman" panose="02020603050405020304" pitchFamily="18" charset="0"/>
                <a:cs typeface="Times New Roman" panose="02020603050405020304" pitchFamily="18" charset="0"/>
              </a:rPr>
              <a:t>Chrome</a:t>
            </a:r>
            <a:endParaRPr lang="en-IN" sz="2100" dirty="0">
              <a:latin typeface="Times New Roman" panose="02020603050405020304" pitchFamily="18" charset="0"/>
              <a:cs typeface="Times New Roman" panose="02020603050405020304" pitchFamily="18" charset="0"/>
            </a:endParaRPr>
          </a:p>
          <a:p>
            <a:pPr marL="736600" marR="6290310" lvl="1">
              <a:lnSpc>
                <a:spcPct val="126000"/>
              </a:lnSpc>
              <a:spcBef>
                <a:spcPts val="45"/>
              </a:spcBef>
            </a:pPr>
            <a:r>
              <a:rPr lang="en-IN" sz="2100" b="0" spc="-10" dirty="0">
                <a:latin typeface="Times New Roman" panose="02020603050405020304" pitchFamily="18" charset="0"/>
                <a:cs typeface="Times New Roman" panose="02020603050405020304" pitchFamily="18" charset="0"/>
              </a:rPr>
              <a:t>Operating </a:t>
            </a:r>
            <a:r>
              <a:rPr lang="en-IN" sz="2100" b="0" spc="-15" dirty="0">
                <a:latin typeface="Times New Roman" panose="02020603050405020304" pitchFamily="18" charset="0"/>
                <a:cs typeface="Times New Roman" panose="02020603050405020304" pitchFamily="18" charset="0"/>
              </a:rPr>
              <a:t>System: </a:t>
            </a:r>
            <a:r>
              <a:rPr lang="en-IN" sz="2100" b="0" spc="-5" dirty="0">
                <a:latin typeface="Times New Roman" panose="02020603050405020304" pitchFamily="18" charset="0"/>
                <a:cs typeface="Times New Roman" panose="02020603050405020304" pitchFamily="18" charset="0"/>
              </a:rPr>
              <a:t>Windows</a:t>
            </a:r>
            <a:r>
              <a:rPr lang="en-IN" sz="2100" b="0" dirty="0">
                <a:latin typeface="Times New Roman" panose="02020603050405020304" pitchFamily="18" charset="0"/>
                <a:cs typeface="Times New Roman" panose="02020603050405020304" pitchFamily="18" charset="0"/>
              </a:rPr>
              <a:t>11</a:t>
            </a:r>
            <a:endParaRPr lang="en-IN" sz="2100" b="0" dirty="0">
              <a:latin typeface="Times New Roman" panose="02020603050405020304" pitchFamily="18" charset="0"/>
              <a:cs typeface="Times New Roman" panose="02020603050405020304" pitchFamily="18" charset="0"/>
            </a:endParaRPr>
          </a:p>
          <a:p>
            <a:pPr marL="736600" marR="6290310" lvl="1">
              <a:lnSpc>
                <a:spcPct val="126000"/>
              </a:lnSpc>
              <a:spcBef>
                <a:spcPts val="45"/>
              </a:spcBef>
            </a:pPr>
            <a:r>
              <a:rPr lang="en-IN" sz="2100" b="0" dirty="0">
                <a:latin typeface="Times New Roman" panose="02020603050405020304" pitchFamily="18" charset="0"/>
                <a:cs typeface="Times New Roman" panose="02020603050405020304" pitchFamily="18" charset="0"/>
              </a:rPr>
              <a:t>Python</a:t>
            </a:r>
            <a:r>
              <a:rPr lang="en-IN" sz="2100" b="0" spc="-5" dirty="0">
                <a:latin typeface="Times New Roman" panose="02020603050405020304" pitchFamily="18" charset="0"/>
                <a:cs typeface="Times New Roman" panose="02020603050405020304" pitchFamily="18" charset="0"/>
              </a:rPr>
              <a:t> </a:t>
            </a:r>
            <a:r>
              <a:rPr lang="en-IN" sz="2100" b="0" spc="-10" dirty="0">
                <a:latin typeface="Times New Roman" panose="02020603050405020304" pitchFamily="18" charset="0"/>
                <a:cs typeface="Times New Roman" panose="02020603050405020304" pitchFamily="18" charset="0"/>
              </a:rPr>
              <a:t>(COLAB)</a:t>
            </a:r>
            <a:endParaRPr lang="en-IN" sz="2100" dirty="0">
              <a:latin typeface="Times New Roman" panose="02020603050405020304" pitchFamily="18" charset="0"/>
              <a:cs typeface="Times New Roman" panose="02020603050405020304" pitchFamily="18" charset="0"/>
            </a:endParaRPr>
          </a:p>
          <a:p>
            <a:pPr marL="762635" lvl="1">
              <a:lnSpc>
                <a:spcPct val="100000"/>
              </a:lnSpc>
              <a:spcBef>
                <a:spcPts val="790"/>
              </a:spcBef>
            </a:pPr>
            <a:r>
              <a:rPr lang="en-IN" sz="2100" b="0" dirty="0">
                <a:latin typeface="Times New Roman" panose="02020603050405020304" pitchFamily="18" charset="0"/>
                <a:cs typeface="Times New Roman" panose="02020603050405020304" pitchFamily="18" charset="0"/>
              </a:rPr>
              <a:t>Flask</a:t>
            </a:r>
            <a:endParaRPr lang="en-IN" sz="2100" dirty="0">
              <a:latin typeface="Times New Roman" panose="02020603050405020304" pitchFamily="18" charset="0"/>
              <a:cs typeface="Times New Roman" panose="02020603050405020304" pitchFamily="18" charset="0"/>
            </a:endParaRPr>
          </a:p>
          <a:p>
            <a:pPr marL="12700" indent="0">
              <a:lnSpc>
                <a:spcPct val="100000"/>
              </a:lnSpc>
              <a:spcBef>
                <a:spcPts val="685"/>
              </a:spcBef>
              <a:buNone/>
              <a:tabLst>
                <a:tab pos="241300" algn="l"/>
              </a:tabLst>
            </a:pPr>
            <a:r>
              <a:rPr lang="en-IN" sz="2100" b="1" u="sng" spc="-5" dirty="0">
                <a:latin typeface="Times New Roman" panose="02020603050405020304" pitchFamily="18" charset="0"/>
                <a:cs typeface="Times New Roman" panose="02020603050405020304" pitchFamily="18" charset="0"/>
              </a:rPr>
              <a:t>Hardware</a:t>
            </a:r>
            <a:r>
              <a:rPr lang="en-IN" sz="2400" b="1" u="sng" spc="-50" dirty="0">
                <a:latin typeface="Times New Roman" panose="02020603050405020304" pitchFamily="18" charset="0"/>
                <a:cs typeface="Times New Roman" panose="02020603050405020304" pitchFamily="18" charset="0"/>
              </a:rPr>
              <a:t> </a:t>
            </a:r>
            <a:r>
              <a:rPr lang="en-IN" sz="2400" b="1" u="sng" dirty="0">
                <a:latin typeface="Times New Roman" panose="02020603050405020304" pitchFamily="18" charset="0"/>
                <a:cs typeface="Times New Roman" panose="02020603050405020304" pitchFamily="18" charset="0"/>
              </a:rPr>
              <a:t>Specifications:</a:t>
            </a:r>
            <a:endParaRPr lang="en-IN" sz="2400" b="1" u="sng" dirty="0">
              <a:latin typeface="Times New Roman" panose="02020603050405020304" pitchFamily="18" charset="0"/>
              <a:cs typeface="Times New Roman" panose="02020603050405020304" pitchFamily="18" charset="0"/>
            </a:endParaRPr>
          </a:p>
          <a:p>
            <a:pPr marL="686435" marR="5815330" indent="-342900">
              <a:lnSpc>
                <a:spcPct val="126000"/>
              </a:lnSpc>
              <a:spcBef>
                <a:spcPts val="255"/>
              </a:spcBef>
            </a:pPr>
            <a:r>
              <a:rPr lang="en-IN" sz="2400" b="0" spc="-10" dirty="0">
                <a:latin typeface="Times New Roman" panose="02020603050405020304" pitchFamily="18" charset="0"/>
                <a:cs typeface="Times New Roman" panose="02020603050405020304" pitchFamily="18" charset="0"/>
              </a:rPr>
              <a:t>Processor: Intel® </a:t>
            </a:r>
            <a:r>
              <a:rPr lang="en-IN" sz="2400" b="0" dirty="0">
                <a:latin typeface="Times New Roman" panose="02020603050405020304" pitchFamily="18" charset="0"/>
                <a:cs typeface="Times New Roman" panose="02020603050405020304" pitchFamily="18" charset="0"/>
              </a:rPr>
              <a:t>Dual </a:t>
            </a:r>
            <a:r>
              <a:rPr lang="en-IN" sz="2400" b="0" spc="-15" dirty="0">
                <a:latin typeface="Times New Roman" panose="02020603050405020304" pitchFamily="18" charset="0"/>
                <a:cs typeface="Times New Roman" panose="02020603050405020304" pitchFamily="18" charset="0"/>
              </a:rPr>
              <a:t>Core</a:t>
            </a:r>
            <a:endParaRPr lang="en-IN" sz="2400" b="0" spc="-15" dirty="0">
              <a:latin typeface="Times New Roman" panose="02020603050405020304" pitchFamily="18" charset="0"/>
              <a:cs typeface="Times New Roman" panose="02020603050405020304" pitchFamily="18" charset="0"/>
            </a:endParaRPr>
          </a:p>
          <a:p>
            <a:pPr marL="686435" marR="5815330" indent="-342900">
              <a:lnSpc>
                <a:spcPct val="126000"/>
              </a:lnSpc>
              <a:spcBef>
                <a:spcPts val="255"/>
              </a:spcBef>
            </a:pPr>
            <a:r>
              <a:rPr lang="en-IN" sz="2400" b="0" dirty="0">
                <a:latin typeface="Times New Roman" panose="02020603050405020304" pitchFamily="18" charset="0"/>
                <a:cs typeface="Times New Roman" panose="02020603050405020304" pitchFamily="18" charset="0"/>
              </a:rPr>
              <a:t>2.0GHz </a:t>
            </a:r>
            <a:r>
              <a:rPr lang="en-IN" sz="2400" b="0" spc="-505" dirty="0">
                <a:latin typeface="Times New Roman" panose="02020603050405020304" pitchFamily="18" charset="0"/>
                <a:cs typeface="Times New Roman" panose="02020603050405020304" pitchFamily="18" charset="0"/>
              </a:rPr>
              <a:t> </a:t>
            </a:r>
            <a:r>
              <a:rPr lang="en-IN" sz="2400" b="0" spc="-10" dirty="0">
                <a:latin typeface="Times New Roman" panose="02020603050405020304" pitchFamily="18" charset="0"/>
                <a:cs typeface="Times New Roman" panose="02020603050405020304" pitchFamily="18" charset="0"/>
              </a:rPr>
              <a:t>Hard </a:t>
            </a:r>
            <a:r>
              <a:rPr lang="en-IN" sz="2400" b="0" spc="-5" dirty="0">
                <a:latin typeface="Times New Roman" panose="02020603050405020304" pitchFamily="18" charset="0"/>
                <a:cs typeface="Times New Roman" panose="02020603050405020304" pitchFamily="18" charset="0"/>
              </a:rPr>
              <a:t>Disk:</a:t>
            </a:r>
            <a:r>
              <a:rPr lang="en-IN" sz="2400" b="0" dirty="0">
                <a:latin typeface="Times New Roman" panose="02020603050405020304" pitchFamily="18" charset="0"/>
                <a:cs typeface="Times New Roman" panose="02020603050405020304" pitchFamily="18" charset="0"/>
              </a:rPr>
              <a:t> 1TB</a:t>
            </a:r>
            <a:endParaRPr lang="en-IN" sz="2400" dirty="0">
              <a:latin typeface="Times New Roman" panose="02020603050405020304" pitchFamily="18" charset="0"/>
              <a:cs typeface="Times New Roman" panose="02020603050405020304" pitchFamily="18" charset="0"/>
            </a:endParaRPr>
          </a:p>
          <a:p>
            <a:pPr marL="686435" marR="5815330" indent="-342900">
              <a:lnSpc>
                <a:spcPct val="126000"/>
              </a:lnSpc>
              <a:spcBef>
                <a:spcPts val="255"/>
              </a:spcBef>
            </a:pPr>
            <a:r>
              <a:rPr lang="en-IN" sz="2400" b="0" spc="-5" dirty="0">
                <a:latin typeface="Times New Roman" panose="02020603050405020304" pitchFamily="18" charset="0"/>
                <a:cs typeface="Times New Roman" panose="02020603050405020304" pitchFamily="18" charset="0"/>
              </a:rPr>
              <a:t>RAM:</a:t>
            </a:r>
            <a:r>
              <a:rPr lang="en-IN" sz="2400" b="0" spc="-40" dirty="0">
                <a:latin typeface="Times New Roman" panose="02020603050405020304" pitchFamily="18" charset="0"/>
                <a:cs typeface="Times New Roman" panose="02020603050405020304" pitchFamily="18" charset="0"/>
              </a:rPr>
              <a:t> </a:t>
            </a:r>
            <a:r>
              <a:rPr lang="en-IN" sz="2400" b="0" dirty="0">
                <a:latin typeface="Times New Roman" panose="02020603050405020304" pitchFamily="18" charset="0"/>
                <a:cs typeface="Times New Roman" panose="02020603050405020304" pitchFamily="18" charset="0"/>
              </a:rPr>
              <a:t>8GB</a:t>
            </a:r>
            <a:endParaRPr lang="en-IN" sz="24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IN"/>
          </a:p>
        </p:txBody>
      </p:sp>
      <p:sp>
        <p:nvSpPr>
          <p:cNvPr id="5" name="Footer Placeholder 4"/>
          <p:cNvSpPr>
            <a:spLocks noGrp="1"/>
          </p:cNvSpPr>
          <p:nvPr>
            <p:ph type="ftr" sz="quarter" idx="11"/>
          </p:nvPr>
        </p:nvSpPr>
        <p:spPr/>
        <p:txBody>
          <a:bodyPr/>
          <a:lstStyle/>
          <a:p>
            <a:r>
              <a:rPr lang="en-US"/>
              <a:t>Review No.2         Batch No.</a:t>
            </a:r>
            <a:r>
              <a:rPr lang="en-IN" altLang="en-US"/>
              <a:t>DB1</a:t>
            </a:r>
            <a:r>
              <a:rPr lang="en-US"/>
              <a:t>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5375" y="681037"/>
            <a:ext cx="10515600" cy="703587"/>
          </a:xfrm>
        </p:spPr>
        <p:txBody>
          <a:bodyPr>
            <a:noAutofit/>
          </a:bodyPr>
          <a:lstStyle/>
          <a:p>
            <a:r>
              <a:rPr lang="en-US" b="1" dirty="0">
                <a:latin typeface="Times New Roman" panose="02020603050405020304" pitchFamily="18" charset="0"/>
                <a:cs typeface="Times New Roman" panose="02020603050405020304" pitchFamily="18" charset="0"/>
              </a:rPr>
              <a:t>IMPLEMENTATION</a:t>
            </a:r>
            <a:br>
              <a:rPr lang="en-IN" b="1" dirty="0">
                <a:latin typeface="Times New Roman" panose="02020603050405020304" pitchFamily="18" charset="0"/>
                <a:cs typeface="Times New Roman" panose="02020603050405020304" pitchFamily="18" charset="0"/>
              </a:rPr>
            </a:br>
            <a:endParaRPr lang="en-IN" b="1" dirty="0"/>
          </a:p>
        </p:txBody>
      </p:sp>
      <p:sp>
        <p:nvSpPr>
          <p:cNvPr id="4" name="Date Placeholder 3"/>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IN"/>
          </a:p>
        </p:txBody>
      </p:sp>
      <p:sp>
        <p:nvSpPr>
          <p:cNvPr id="5" name="Footer Placeholder 4"/>
          <p:cNvSpPr>
            <a:spLocks noGrp="1"/>
          </p:cNvSpPr>
          <p:nvPr>
            <p:ph type="ftr" sz="quarter" idx="11"/>
          </p:nvPr>
        </p:nvSpPr>
        <p:spPr/>
        <p:txBody>
          <a:bodyPr/>
          <a:lstStyle/>
          <a:p>
            <a:r>
              <a:rPr lang="en-US" dirty="0"/>
              <a:t>Review No. </a:t>
            </a:r>
            <a:r>
              <a:rPr lang="en-IN" altLang="en-US" dirty="0"/>
              <a:t>2</a:t>
            </a:r>
            <a:r>
              <a:rPr lang="en-US" dirty="0"/>
              <a:t>        Batch No.   DB1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fld>
            <a:endParaRPr lang="en-IN" dirty="0"/>
          </a:p>
        </p:txBody>
      </p:sp>
      <p:pic>
        <p:nvPicPr>
          <p:cNvPr id="7" name="Picture 6"/>
          <p:cNvPicPr>
            <a:picLocks noChangeAspect="1"/>
          </p:cNvPicPr>
          <p:nvPr/>
        </p:nvPicPr>
        <p:blipFill>
          <a:blip r:embed="rId1"/>
          <a:stretch>
            <a:fillRect/>
          </a:stretch>
        </p:blipFill>
        <p:spPr>
          <a:xfrm>
            <a:off x="503555" y="1015365"/>
            <a:ext cx="5934075" cy="4758690"/>
          </a:xfrm>
          <a:prstGeom prst="rect">
            <a:avLst/>
          </a:prstGeom>
        </p:spPr>
      </p:pic>
      <p:pic>
        <p:nvPicPr>
          <p:cNvPr id="9" name="Picture 8"/>
          <p:cNvPicPr>
            <a:picLocks noChangeAspect="1"/>
          </p:cNvPicPr>
          <p:nvPr/>
        </p:nvPicPr>
        <p:blipFill>
          <a:blip r:embed="rId2"/>
          <a:stretch>
            <a:fillRect/>
          </a:stretch>
        </p:blipFill>
        <p:spPr>
          <a:xfrm>
            <a:off x="6664325" y="1015365"/>
            <a:ext cx="5067935" cy="4846955"/>
          </a:xfrm>
          <a:prstGeom prst="rect">
            <a:avLst/>
          </a:prstGeom>
        </p:spPr>
      </p:pic>
      <p:sp>
        <p:nvSpPr>
          <p:cNvPr id="3" name="Text Box 2"/>
          <p:cNvSpPr txBox="1"/>
          <p:nvPr/>
        </p:nvSpPr>
        <p:spPr>
          <a:xfrm>
            <a:off x="1438275" y="5880735"/>
            <a:ext cx="4064000" cy="398780"/>
          </a:xfrm>
          <a:prstGeom prst="rect">
            <a:avLst/>
          </a:prstGeom>
          <a:noFill/>
        </p:spPr>
        <p:txBody>
          <a:bodyPr wrap="square" rtlCol="0">
            <a:spAutoFit/>
          </a:bodyPr>
          <a:p>
            <a:pPr algn="just"/>
            <a:r>
              <a:rPr lang="en-US" sz="2000" b="1">
                <a:latin typeface="Times New Roman" panose="02020603050405020304" pitchFamily="18" charset="0"/>
                <a:cs typeface="Times New Roman" panose="02020603050405020304" pitchFamily="18" charset="0"/>
              </a:rPr>
              <a:t>SNFFE Model</a:t>
            </a:r>
            <a:endParaRPr lang="en-US" sz="2000" b="1">
              <a:latin typeface="Times New Roman" panose="02020603050405020304" pitchFamily="18" charset="0"/>
              <a:cs typeface="Times New Roman" panose="02020603050405020304" pitchFamily="18" charset="0"/>
            </a:endParaRPr>
          </a:p>
        </p:txBody>
      </p:sp>
      <p:sp>
        <p:nvSpPr>
          <p:cNvPr id="8" name="Text Box 7"/>
          <p:cNvSpPr txBox="1"/>
          <p:nvPr/>
        </p:nvSpPr>
        <p:spPr>
          <a:xfrm>
            <a:off x="7475220" y="5880735"/>
            <a:ext cx="4064000" cy="398780"/>
          </a:xfrm>
          <a:prstGeom prst="rect">
            <a:avLst/>
          </a:prstGeom>
          <a:noFill/>
        </p:spPr>
        <p:txBody>
          <a:bodyPr wrap="square" rtlCol="0">
            <a:spAutoFit/>
          </a:bodyPr>
          <a:p>
            <a:r>
              <a:rPr lang="en-US" sz="2000" b="1">
                <a:latin typeface="Times New Roman" panose="02020603050405020304" pitchFamily="18" charset="0"/>
                <a:cs typeface="Times New Roman" panose="02020603050405020304" pitchFamily="18" charset="0"/>
              </a:rPr>
              <a:t>Orientation Model</a:t>
            </a:r>
            <a:endParaRPr lang="en-US" sz="2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RESULTS &amp; ANALYSIS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p:txBody>
          <a:bodyPr>
            <a:normAutofit/>
          </a:bodyPr>
          <a:lstStyle/>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a:t>
            </a:r>
            <a:r>
              <a:rPr lang="en-IN" altLang="en-US">
                <a:latin typeface="Times New Roman" panose="02020603050405020304" pitchFamily="18" charset="0"/>
                <a:cs typeface="Times New Roman" panose="02020603050405020304" pitchFamily="18" charset="0"/>
              </a:rPr>
              <a:t>2</a:t>
            </a:r>
            <a:r>
              <a:rPr lang="en-US">
                <a:latin typeface="Times New Roman" panose="02020603050405020304" pitchFamily="18" charset="0"/>
                <a:cs typeface="Times New Roman" panose="02020603050405020304" pitchFamily="18" charset="0"/>
              </a:rPr>
              <a:t>        Batch No.</a:t>
            </a:r>
            <a:r>
              <a:rPr lang="en-IN" altLang="en-US">
                <a:latin typeface="Times New Roman" panose="02020603050405020304" pitchFamily="18" charset="0"/>
                <a:cs typeface="Times New Roman" panose="02020603050405020304" pitchFamily="18" charset="0"/>
              </a:rPr>
              <a:t>DB1</a:t>
            </a:r>
            <a:r>
              <a:rPr lang="en-US">
                <a:latin typeface="Times New Roman" panose="02020603050405020304" pitchFamily="18" charset="0"/>
                <a:cs typeface="Times New Roman" panose="02020603050405020304" pitchFamily="18" charset="0"/>
              </a:rPr>
              <a:t>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11" name="Text Box 10"/>
          <p:cNvSpPr txBox="1"/>
          <p:nvPr/>
        </p:nvSpPr>
        <p:spPr>
          <a:xfrm>
            <a:off x="1031875" y="1492885"/>
            <a:ext cx="10652125" cy="4227195"/>
          </a:xfrm>
          <a:prstGeom prst="rect">
            <a:avLst/>
          </a:prstGeom>
          <a:noFill/>
        </p:spPr>
        <p:txBody>
          <a:bodyPr wrap="square" rtlCol="0">
            <a:noAutofit/>
          </a:bodyPr>
          <a:p>
            <a:pPr>
              <a:lnSpc>
                <a:spcPct val="150000"/>
              </a:lnSpc>
              <a:buClrTx/>
              <a:buFont typeface="Arial" panose="020B0604020202020204" pitchFamily="34" charset="0"/>
            </a:pPr>
            <a:r>
              <a:rPr lang="en-IN" altLang="en-US" dirty="0">
                <a:latin typeface="Times New Roman" panose="02020603050405020304" pitchFamily="18" charset="0"/>
                <a:ea typeface="Arial" panose="020B0604020202020204"/>
                <a:sym typeface="+mn-ea"/>
              </a:rPr>
              <a:t>1. </a:t>
            </a:r>
            <a:r>
              <a:rPr lang="en-US" altLang="en-US" dirty="0">
                <a:latin typeface="Times New Roman" panose="02020603050405020304" pitchFamily="18" charset="0"/>
                <a:ea typeface="Arial" panose="020B0604020202020204"/>
                <a:sym typeface="+mn-ea"/>
              </a:rPr>
              <a:t>Proposed</a:t>
            </a:r>
            <a:r>
              <a:rPr lang="en-US" altLang="en-US" b="1" dirty="0">
                <a:latin typeface="Times New Roman" panose="02020603050405020304" pitchFamily="18" charset="0"/>
                <a:ea typeface="Arial" panose="020B0604020202020204"/>
                <a:sym typeface="+mn-ea"/>
              </a:rPr>
              <a:t> </a:t>
            </a:r>
            <a:r>
              <a:rPr lang="en-US" altLang="en-US" dirty="0">
                <a:latin typeface="Times New Roman" panose="02020603050405020304" pitchFamily="18" charset="0"/>
                <a:ea typeface="Arial" panose="020B0604020202020204"/>
                <a:sym typeface="+mn-ea"/>
              </a:rPr>
              <a:t>Adaptive CNN achieved MAPE of 4.58% (good) and </a:t>
            </a:r>
            <a:r>
              <a:rPr lang="en-US" altLang="en-US" dirty="0">
                <a:latin typeface="Times New Roman" panose="02020603050405020304" pitchFamily="18" charset="0"/>
                <a:ea typeface="Arial" panose="020B0604020202020204"/>
                <a:sym typeface="+mn-ea"/>
              </a:rPr>
              <a:t>5.02% (degraded).</a:t>
            </a:r>
            <a:endParaRPr lang="en-US" altLang="en-US" dirty="0">
              <a:latin typeface="Times New Roman" panose="02020603050405020304" pitchFamily="18" charset="0"/>
              <a:ea typeface="Arial" panose="020B0604020202020204"/>
            </a:endParaRPr>
          </a:p>
          <a:p>
            <a:pPr>
              <a:lnSpc>
                <a:spcPct val="150000"/>
              </a:lnSpc>
              <a:buClrTx/>
              <a:buFont typeface="Wingdings" panose="05000000000000000000" pitchFamily="2" charset="2"/>
            </a:pPr>
            <a:r>
              <a:rPr lang="en-IN" altLang="en-US" dirty="0">
                <a:latin typeface="Times New Roman" panose="02020603050405020304" pitchFamily="18" charset="0"/>
                <a:ea typeface="Arial" panose="020B0604020202020204"/>
                <a:sym typeface="+mn-ea"/>
              </a:rPr>
              <a:t>2. </a:t>
            </a:r>
            <a:r>
              <a:rPr lang="en-US" altLang="en-US" dirty="0">
                <a:latin typeface="Times New Roman" panose="02020603050405020304" pitchFamily="18" charset="0"/>
                <a:ea typeface="Arial" panose="020B0604020202020204"/>
                <a:sym typeface="+mn-ea"/>
              </a:rPr>
              <a:t>Outperformed baseline CNN and traditional frequency regression models.</a:t>
            </a:r>
            <a:endParaRPr lang="en-US" altLang="en-US" dirty="0">
              <a:latin typeface="Times New Roman" panose="02020603050405020304" pitchFamily="18" charset="0"/>
              <a:ea typeface="Arial" panose="020B0604020202020204"/>
            </a:endParaRPr>
          </a:p>
          <a:p>
            <a:pPr>
              <a:lnSpc>
                <a:spcPct val="150000"/>
              </a:lnSpc>
              <a:buClrTx/>
              <a:buFont typeface="Wingdings" panose="05000000000000000000" pitchFamily="2" charset="2"/>
            </a:pPr>
            <a:r>
              <a:rPr lang="en-IN" altLang="en-US" dirty="0">
                <a:latin typeface="Times New Roman" panose="02020603050405020304" pitchFamily="18" charset="0"/>
                <a:ea typeface="Arial" panose="020B0604020202020204"/>
                <a:sym typeface="+mn-ea"/>
              </a:rPr>
              <a:t>3. </a:t>
            </a:r>
            <a:r>
              <a:rPr lang="en-US" altLang="en-US" dirty="0">
                <a:latin typeface="Times New Roman" panose="02020603050405020304" pitchFamily="18" charset="0"/>
                <a:ea typeface="Arial" panose="020B0604020202020204"/>
                <a:sym typeface="+mn-ea"/>
              </a:rPr>
              <a:t>Execution time: 0.012 seconds per image → suitable for real-time applications.</a:t>
            </a:r>
            <a:endParaRPr lang="en-US" altLang="en-US" dirty="0">
              <a:latin typeface="Times New Roman" panose="02020603050405020304" pitchFamily="18" charset="0"/>
              <a:ea typeface="Arial" panose="020B0604020202020204"/>
            </a:endParaRPr>
          </a:p>
          <a:p>
            <a:pPr>
              <a:lnSpc>
                <a:spcPct val="150000"/>
              </a:lnSpc>
              <a:buClrTx/>
              <a:buFont typeface="Wingdings" panose="05000000000000000000" pitchFamily="2" charset="2"/>
            </a:pPr>
            <a:r>
              <a:rPr lang="en-IN" altLang="en-US" dirty="0">
                <a:latin typeface="Times New Roman" panose="02020603050405020304" pitchFamily="18" charset="0"/>
                <a:ea typeface="Arial" panose="020B0604020202020204"/>
                <a:sym typeface="+mn-ea"/>
              </a:rPr>
              <a:t>4. </a:t>
            </a:r>
            <a:r>
              <a:rPr lang="en-US" altLang="en-US" dirty="0">
                <a:latin typeface="Times New Roman" panose="02020603050405020304" pitchFamily="18" charset="0"/>
                <a:ea typeface="Arial" panose="020B0604020202020204"/>
                <a:sym typeface="+mn-ea"/>
              </a:rPr>
              <a:t>Enhanced</a:t>
            </a:r>
            <a:r>
              <a:rPr lang="en-US" altLang="en-US" b="1" dirty="0">
                <a:latin typeface="Times New Roman" panose="02020603050405020304" pitchFamily="18" charset="0"/>
                <a:ea typeface="Arial" panose="020B0604020202020204"/>
                <a:sym typeface="+mn-ea"/>
              </a:rPr>
              <a:t> </a:t>
            </a:r>
            <a:r>
              <a:rPr lang="en-US" altLang="en-US" dirty="0">
                <a:latin typeface="Times New Roman" panose="02020603050405020304" pitchFamily="18" charset="0"/>
                <a:ea typeface="Arial" panose="020B0604020202020204"/>
                <a:sym typeface="+mn-ea"/>
              </a:rPr>
              <a:t>ridge clarity and continuity in noisy or smudged fingerprints.</a:t>
            </a:r>
            <a:endParaRPr lang="en-US" altLang="en-US" dirty="0">
              <a:latin typeface="Times New Roman" panose="02020603050405020304" pitchFamily="18" charset="0"/>
              <a:ea typeface="Arial" panose="020B0604020202020204"/>
            </a:endParaRPr>
          </a:p>
          <a:p>
            <a:pPr>
              <a:lnSpc>
                <a:spcPct val="150000"/>
              </a:lnSpc>
              <a:buClrTx/>
              <a:buFont typeface="Wingdings" panose="05000000000000000000" pitchFamily="2" charset="2"/>
            </a:pPr>
            <a:r>
              <a:rPr lang="en-IN" altLang="en-US" dirty="0">
                <a:latin typeface="Times New Roman" panose="02020603050405020304" pitchFamily="18" charset="0"/>
                <a:ea typeface="Arial" panose="020B0604020202020204"/>
                <a:sym typeface="+mn-ea"/>
              </a:rPr>
              <a:t>5. </a:t>
            </a:r>
            <a:r>
              <a:rPr lang="en-US" altLang="en-US" dirty="0">
                <a:latin typeface="Times New Roman" panose="02020603050405020304" pitchFamily="18" charset="0"/>
                <a:ea typeface="Arial" panose="020B0604020202020204"/>
                <a:sym typeface="+mn-ea"/>
              </a:rPr>
              <a:t>XSFFE + SNFFE preprocessing</a:t>
            </a:r>
            <a:r>
              <a:rPr lang="en-US" altLang="en-US" b="1" dirty="0">
                <a:latin typeface="Times New Roman" panose="02020603050405020304" pitchFamily="18" charset="0"/>
                <a:ea typeface="Arial" panose="020B0604020202020204"/>
                <a:sym typeface="+mn-ea"/>
              </a:rPr>
              <a:t> </a:t>
            </a:r>
            <a:r>
              <a:rPr lang="en-US" altLang="en-US" dirty="0">
                <a:latin typeface="Times New Roman" panose="02020603050405020304" pitchFamily="18" charset="0"/>
                <a:ea typeface="Arial" panose="020B0604020202020204"/>
                <a:sym typeface="+mn-ea"/>
              </a:rPr>
              <a:t>improved model learning and accuracy.</a:t>
            </a:r>
            <a:endParaRPr lang="en-US" altLang="en-US" dirty="0">
              <a:latin typeface="Times New Roman" panose="02020603050405020304" pitchFamily="18" charset="0"/>
              <a:ea typeface="Arial" panose="020B0604020202020204"/>
            </a:endParaRPr>
          </a:p>
          <a:p>
            <a:pPr>
              <a:lnSpc>
                <a:spcPct val="150000"/>
              </a:lnSpc>
              <a:buClrTx/>
              <a:buFont typeface="Wingdings" panose="05000000000000000000" pitchFamily="2" charset="2"/>
            </a:pPr>
            <a:r>
              <a:rPr lang="en-IN" altLang="en-US" dirty="0">
                <a:latin typeface="Times New Roman" panose="02020603050405020304" pitchFamily="18" charset="0"/>
                <a:ea typeface="Arial" panose="020B0604020202020204"/>
                <a:sym typeface="+mn-ea"/>
              </a:rPr>
              <a:t>6. </a:t>
            </a:r>
            <a:r>
              <a:rPr lang="en-US" altLang="en-US" dirty="0">
                <a:latin typeface="Times New Roman" panose="02020603050405020304" pitchFamily="18" charset="0"/>
                <a:ea typeface="Arial" panose="020B0604020202020204"/>
                <a:sym typeface="+mn-ea"/>
              </a:rPr>
              <a:t>Demonstrated strong </a:t>
            </a:r>
            <a:r>
              <a:rPr lang="en-US" altLang="en-US" dirty="0">
                <a:latin typeface="Times New Roman" panose="02020603050405020304" pitchFamily="18" charset="0"/>
                <a:ea typeface="Arial" panose="020B0604020202020204"/>
                <a:sym typeface="+mn-ea"/>
              </a:rPr>
              <a:t>generalization across fingerprint variations.</a:t>
            </a:r>
            <a:endParaRPr lang="en-US" altLang="en-US" dirty="0">
              <a:latin typeface="Times New Roman" panose="02020603050405020304" pitchFamily="18" charset="0"/>
              <a:ea typeface="Arial" panose="020B0604020202020204"/>
            </a:endParaRPr>
          </a:p>
          <a:p>
            <a:pPr>
              <a:lnSpc>
                <a:spcPct val="150000"/>
              </a:lnSpc>
              <a:buClrTx/>
              <a:buFont typeface="Wingdings" panose="05000000000000000000" pitchFamily="2" charset="2"/>
            </a:pPr>
            <a:r>
              <a:rPr lang="en-IN" altLang="en-US" dirty="0">
                <a:latin typeface="Times New Roman" panose="02020603050405020304" pitchFamily="18" charset="0"/>
                <a:ea typeface="Arial" panose="020B0604020202020204"/>
                <a:sym typeface="+mn-ea"/>
              </a:rPr>
              <a:t>7. </a:t>
            </a:r>
            <a:r>
              <a:rPr lang="en-US" altLang="en-US" dirty="0">
                <a:latin typeface="Times New Roman" panose="02020603050405020304" pitchFamily="18" charset="0"/>
                <a:ea typeface="Arial" panose="020B0604020202020204"/>
                <a:sym typeface="+mn-ea"/>
              </a:rPr>
              <a:t>Final output: </a:t>
            </a:r>
            <a:r>
              <a:rPr lang="en-US" altLang="en-US" dirty="0">
                <a:latin typeface="Times New Roman" panose="02020603050405020304" pitchFamily="18" charset="0"/>
                <a:ea typeface="Arial" panose="020B0604020202020204"/>
                <a:sym typeface="+mn-ea"/>
              </a:rPr>
              <a:t>smooth, accurate orientation and frequency fields for robust identification.</a:t>
            </a:r>
            <a:endParaRPr lang="en-US" altLang="en-US" dirty="0">
              <a:latin typeface="Times New Roman" panose="02020603050405020304" pitchFamily="18" charset="0"/>
              <a:ea typeface="Arial" panose="020B0604020202020204"/>
            </a:endParaRPr>
          </a:p>
          <a:p>
            <a:pPr>
              <a:lnSpc>
                <a:spcPct val="150000"/>
              </a:lnSpc>
            </a:pP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a:t>
            </a:r>
            <a:r>
              <a:rPr lang="en-IN" altLang="en-US"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Batch No.   DB1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2" name="Text Box 1"/>
          <p:cNvSpPr txBox="1"/>
          <p:nvPr/>
        </p:nvSpPr>
        <p:spPr>
          <a:xfrm>
            <a:off x="838200" y="806450"/>
            <a:ext cx="5348605" cy="5549900"/>
          </a:xfrm>
          <a:prstGeom prst="rect">
            <a:avLst/>
          </a:prstGeom>
          <a:noFill/>
        </p:spPr>
        <p:txBody>
          <a:bodyPr wrap="square" rtlCol="0">
            <a:noAutofit/>
          </a:bodyPr>
          <a:p>
            <a:pPr>
              <a:buClrTx/>
              <a:buFont typeface="Arial" panose="020B0604020202020204" pitchFamily="34" charset="0"/>
            </a:pPr>
            <a:r>
              <a:rPr lang="en-US" altLang="en-US" sz="2000" b="1" dirty="0">
                <a:latin typeface="Times New Roman" panose="02020603050405020304" pitchFamily="18" charset="0"/>
                <a:ea typeface="Arial" panose="020B0604020202020204"/>
                <a:sym typeface="+mn-ea"/>
              </a:rPr>
              <a:t>Table 1: Average MAPE on FFE Dataset (%)</a:t>
            </a:r>
            <a:endParaRPr lang="en-US" sz="2000"/>
          </a:p>
        </p:txBody>
      </p:sp>
      <p:graphicFrame>
        <p:nvGraphicFramePr>
          <p:cNvPr id="3" name="Table 2"/>
          <p:cNvGraphicFramePr/>
          <p:nvPr>
            <p:custDataLst>
              <p:tags r:id="rId1"/>
            </p:custDataLst>
          </p:nvPr>
        </p:nvGraphicFramePr>
        <p:xfrm>
          <a:off x="1012825" y="1489075"/>
          <a:ext cx="4621530" cy="4607560"/>
        </p:xfrm>
        <a:graphic>
          <a:graphicData uri="http://schemas.openxmlformats.org/drawingml/2006/table">
            <a:tbl>
              <a:tblPr>
                <a:tableStyleId>{35758FB7-9AC5-4552-8A53-C91805E547FA}</a:tableStyleId>
              </a:tblPr>
              <a:tblGrid>
                <a:gridCol w="1561465"/>
                <a:gridCol w="1529715"/>
                <a:gridCol w="1530350"/>
              </a:tblGrid>
              <a:tr h="502285">
                <a:tc>
                  <a:txBody>
                    <a:bodyPr/>
                    <a:p>
                      <a:pPr algn="ctr"/>
                      <a:r>
                        <a:rPr sz="1800">
                          <a:latin typeface="Arial" panose="020B0604020202020204" pitchFamily="34" charset="0"/>
                          <a:cs typeface="Arial" panose="020B0604020202020204" pitchFamily="34" charset="0"/>
                        </a:rPr>
                        <a:t>Method</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Good Quality Images</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Degraded Images</a:t>
                      </a:r>
                      <a:endParaRPr sz="1800">
                        <a:latin typeface="Arial" panose="020B0604020202020204" pitchFamily="34" charset="0"/>
                        <a:cs typeface="Arial" panose="020B0604020202020204" pitchFamily="34" charset="0"/>
                      </a:endParaRPr>
                    </a:p>
                  </a:txBody>
                  <a:tcPr marL="0" marR="0" marT="0" marB="0" anchor="ctr" anchorCtr="0"/>
                </a:tc>
              </a:tr>
              <a:tr h="424180">
                <a:tc>
                  <a:txBody>
                    <a:bodyPr/>
                    <a:p>
                      <a:pPr algn="ctr"/>
                      <a:r>
                        <a:rPr sz="1800" b="1">
                          <a:latin typeface="Arial" panose="020B0604020202020204" pitchFamily="34" charset="0"/>
                          <a:cs typeface="Arial" panose="020B0604020202020204" pitchFamily="34" charset="0"/>
                        </a:rPr>
                        <a:t>SNFFE (Proposed)</a:t>
                      </a:r>
                      <a:endParaRPr sz="1800" b="1">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4.58</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5.02</a:t>
                      </a:r>
                      <a:endParaRPr sz="1800">
                        <a:latin typeface="Arial" panose="020B0604020202020204" pitchFamily="34" charset="0"/>
                        <a:cs typeface="Arial" panose="020B0604020202020204" pitchFamily="34" charset="0"/>
                      </a:endParaRPr>
                    </a:p>
                  </a:txBody>
                  <a:tcPr marL="0" marR="0" marT="0" marB="0" anchor="ctr" anchorCtr="0"/>
                </a:tc>
              </a:tr>
              <a:tr h="845820">
                <a:tc>
                  <a:txBody>
                    <a:bodyPr/>
                    <a:p>
                      <a:pPr algn="ctr"/>
                      <a:r>
                        <a:rPr sz="1800" b="1">
                          <a:latin typeface="Arial" panose="020B0604020202020204" pitchFamily="34" charset="0"/>
                          <a:cs typeface="Arial" panose="020B0604020202020204" pitchFamily="34" charset="0"/>
                        </a:rPr>
                        <a:t>Adaptive CNN (Orientation)</a:t>
                      </a:r>
                      <a:endParaRPr sz="1800" b="1">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10.5</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9.8</a:t>
                      </a:r>
                      <a:endParaRPr sz="1800">
                        <a:latin typeface="Arial" panose="020B0604020202020204" pitchFamily="34" charset="0"/>
                        <a:cs typeface="Arial" panose="020B0604020202020204" pitchFamily="34" charset="0"/>
                      </a:endParaRPr>
                    </a:p>
                  </a:txBody>
                  <a:tcPr marL="0" marR="0" marT="0" marB="0" anchor="ctr" anchorCtr="0"/>
                </a:tc>
              </a:tr>
              <a:tr h="846455">
                <a:tc>
                  <a:txBody>
                    <a:bodyPr/>
                    <a:p>
                      <a:pPr algn="ctr"/>
                      <a:r>
                        <a:rPr sz="1800" b="1">
                          <a:latin typeface="Arial" panose="020B0604020202020204" pitchFamily="34" charset="0"/>
                          <a:cs typeface="Arial" panose="020B0604020202020204" pitchFamily="34" charset="0"/>
                        </a:rPr>
                        <a:t>Adaptive CNN (Frequency)</a:t>
                      </a:r>
                      <a:endParaRPr sz="1800" b="1">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12.2</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10.5</a:t>
                      </a:r>
                      <a:endParaRPr sz="1800">
                        <a:latin typeface="Arial" panose="020B0604020202020204" pitchFamily="34" charset="0"/>
                        <a:cs typeface="Arial" panose="020B0604020202020204" pitchFamily="34" charset="0"/>
                      </a:endParaRPr>
                    </a:p>
                  </a:txBody>
                  <a:tcPr marL="0" marR="0" marT="0" marB="0" anchor="ctr" anchorCtr="0"/>
                </a:tc>
              </a:tr>
              <a:tr h="502920">
                <a:tc>
                  <a:txBody>
                    <a:bodyPr/>
                    <a:p>
                      <a:pPr algn="ctr"/>
                      <a:r>
                        <a:rPr sz="1800">
                          <a:latin typeface="Arial" panose="020B0604020202020204" pitchFamily="34" charset="0"/>
                          <a:cs typeface="Arial" panose="020B0604020202020204" pitchFamily="34" charset="0"/>
                        </a:rPr>
                        <a:t>Orientation Vector Model</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11.5</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10.2</a:t>
                      </a:r>
                      <a:endParaRPr sz="1800">
                        <a:latin typeface="Arial" panose="020B0604020202020204" pitchFamily="34" charset="0"/>
                        <a:cs typeface="Arial" panose="020B0604020202020204" pitchFamily="34" charset="0"/>
                      </a:endParaRPr>
                    </a:p>
                  </a:txBody>
                  <a:tcPr marL="0" marR="0" marT="0" marB="0" anchor="ctr" anchorCtr="0"/>
                </a:tc>
              </a:tr>
              <a:tr h="845820">
                <a:tc>
                  <a:txBody>
                    <a:bodyPr/>
                    <a:p>
                      <a:pPr algn="ctr"/>
                      <a:r>
                        <a:rPr sz="1800">
                          <a:latin typeface="Arial" panose="020B0604020202020204" pitchFamily="34" charset="0"/>
                          <a:cs typeface="Arial" panose="020B0604020202020204" pitchFamily="34" charset="0"/>
                        </a:rPr>
                        <a:t>Frequency Regression Model</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11.8</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12.9</a:t>
                      </a:r>
                      <a:endParaRPr sz="1800">
                        <a:latin typeface="Arial" panose="020B0604020202020204" pitchFamily="34" charset="0"/>
                        <a:cs typeface="Arial" panose="020B0604020202020204" pitchFamily="34" charset="0"/>
                      </a:endParaRPr>
                    </a:p>
                  </a:txBody>
                  <a:tcPr marL="0" marR="0" marT="0" marB="0" anchor="ctr" anchorCtr="0"/>
                </a:tc>
              </a:tr>
              <a:tr h="423545">
                <a:tc>
                  <a:txBody>
                    <a:bodyPr/>
                    <a:p>
                      <a:pPr algn="ctr"/>
                      <a:r>
                        <a:rPr sz="1800">
                          <a:latin typeface="Arial" panose="020B0604020202020204" pitchFamily="34" charset="0"/>
                          <a:cs typeface="Arial" panose="020B0604020202020204" pitchFamily="34" charset="0"/>
                        </a:rPr>
                        <a:t>CNN Classifier</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13.0</a:t>
                      </a:r>
                      <a:endParaRPr sz="1800">
                        <a:latin typeface="Arial" panose="020B0604020202020204" pitchFamily="34" charset="0"/>
                        <a:cs typeface="Arial" panose="020B0604020202020204" pitchFamily="34" charset="0"/>
                      </a:endParaRPr>
                    </a:p>
                  </a:txBody>
                  <a:tcPr marL="0" marR="0" marT="0" marB="0" anchor="ctr" anchorCtr="0"/>
                </a:tc>
                <a:tc>
                  <a:txBody>
                    <a:bodyPr/>
                    <a:p>
                      <a:pPr algn="ctr"/>
                      <a:r>
                        <a:rPr sz="1800">
                          <a:latin typeface="Arial" panose="020B0604020202020204" pitchFamily="34" charset="0"/>
                          <a:cs typeface="Arial" panose="020B0604020202020204" pitchFamily="34" charset="0"/>
                        </a:rPr>
                        <a:t>12.0</a:t>
                      </a:r>
                      <a:endParaRPr sz="1800">
                        <a:latin typeface="Arial" panose="020B0604020202020204" pitchFamily="34" charset="0"/>
                        <a:cs typeface="Arial" panose="020B0604020202020204" pitchFamily="34" charset="0"/>
                      </a:endParaRPr>
                    </a:p>
                  </a:txBody>
                  <a:tcPr marL="0" marR="0" marT="0" marB="0" anchor="ctr" anchorCtr="0"/>
                </a:tc>
              </a:tr>
            </a:tbl>
          </a:graphicData>
        </a:graphic>
      </p:graphicFrame>
      <p:sp>
        <p:nvSpPr>
          <p:cNvPr id="4" name="Text Box 3"/>
          <p:cNvSpPr txBox="1"/>
          <p:nvPr/>
        </p:nvSpPr>
        <p:spPr>
          <a:xfrm>
            <a:off x="6186805" y="807085"/>
            <a:ext cx="5166360" cy="5370830"/>
          </a:xfrm>
          <a:prstGeom prst="rect">
            <a:avLst/>
          </a:prstGeom>
          <a:noFill/>
        </p:spPr>
        <p:txBody>
          <a:bodyPr wrap="square" rtlCol="0">
            <a:noAutofit/>
          </a:bodyPr>
          <a:p>
            <a:r>
              <a:rPr lang="en-US" altLang="en-US" sz="2000" b="1">
                <a:latin typeface="Times New Roman" panose="02020603050405020304" pitchFamily="18" charset="0"/>
                <a:cs typeface="Times New Roman" panose="02020603050405020304" pitchFamily="18" charset="0"/>
                <a:sym typeface="+mn-ea"/>
              </a:rPr>
              <a:t>Table 2: Average Execution Time on FFE Dataset (Seconds)</a:t>
            </a:r>
            <a:endParaRPr lang="en-US" altLang="en-US" sz="2000" b="1">
              <a:latin typeface="Times New Roman" panose="02020603050405020304" pitchFamily="18" charset="0"/>
              <a:cs typeface="Times New Roman" panose="02020603050405020304" pitchFamily="18" charset="0"/>
            </a:endParaRPr>
          </a:p>
          <a:p>
            <a:endParaRPr lang="en-US" altLang="en-US" sz="2000" b="1">
              <a:latin typeface="Times New Roman" panose="02020603050405020304" pitchFamily="18" charset="0"/>
              <a:cs typeface="Times New Roman" panose="02020603050405020304" pitchFamily="18" charset="0"/>
            </a:endParaRPr>
          </a:p>
          <a:p>
            <a:endParaRPr lang="en-US" sz="2000"/>
          </a:p>
        </p:txBody>
      </p:sp>
      <p:graphicFrame>
        <p:nvGraphicFramePr>
          <p:cNvPr id="10" name="Table 9"/>
          <p:cNvGraphicFramePr/>
          <p:nvPr>
            <p:custDataLst>
              <p:tags r:id="rId2"/>
            </p:custDataLst>
          </p:nvPr>
        </p:nvGraphicFramePr>
        <p:xfrm>
          <a:off x="6564630" y="1645285"/>
          <a:ext cx="4141470" cy="4451350"/>
        </p:xfrm>
        <a:graphic>
          <a:graphicData uri="http://schemas.openxmlformats.org/drawingml/2006/table">
            <a:tbl>
              <a:tblPr>
                <a:tableStyleId>{775DCB02-9BB8-47FD-8907-85C794F793BA}</a:tableStyleId>
              </a:tblPr>
              <a:tblGrid>
                <a:gridCol w="2070735"/>
                <a:gridCol w="2070735"/>
              </a:tblGrid>
              <a:tr h="555625">
                <a:tc>
                  <a:txBody>
                    <a:bodyPr/>
                    <a:p>
                      <a:pPr algn="ctr">
                        <a:lnSpc>
                          <a:spcPct val="100000"/>
                        </a:lnSpc>
                      </a:pPr>
                      <a:r>
                        <a:rPr sz="1800"/>
                        <a:t>Method</a:t>
                      </a:r>
                      <a:endParaRPr sz="1800"/>
                    </a:p>
                  </a:txBody>
                  <a:tcPr marL="0" marR="0" marT="0" marB="0" anchor="ctr" anchorCtr="0"/>
                </a:tc>
                <a:tc>
                  <a:txBody>
                    <a:bodyPr/>
                    <a:p>
                      <a:pPr algn="ctr">
                        <a:lnSpc>
                          <a:spcPct val="100000"/>
                        </a:lnSpc>
                      </a:pPr>
                      <a:r>
                        <a:rPr sz="1800"/>
                        <a:t>Average Time (s)</a:t>
                      </a:r>
                      <a:endParaRPr sz="1800"/>
                    </a:p>
                  </a:txBody>
                  <a:tcPr marL="0" marR="0" marT="0" marB="0" anchor="ctr" anchorCtr="0"/>
                </a:tc>
              </a:tr>
              <a:tr h="636270">
                <a:tc>
                  <a:txBody>
                    <a:bodyPr/>
                    <a:p>
                      <a:pPr algn="ctr">
                        <a:lnSpc>
                          <a:spcPct val="100000"/>
                        </a:lnSpc>
                      </a:pPr>
                      <a:r>
                        <a:rPr sz="1800" b="1"/>
                        <a:t>SNFFE (Proposed)</a:t>
                      </a:r>
                      <a:endParaRPr sz="1800" b="1"/>
                    </a:p>
                  </a:txBody>
                  <a:tcPr marL="0" marR="0" marT="0" marB="0" anchor="ctr" anchorCtr="0"/>
                </a:tc>
                <a:tc>
                  <a:txBody>
                    <a:bodyPr/>
                    <a:p>
                      <a:pPr algn="ctr">
                        <a:lnSpc>
                          <a:spcPct val="100000"/>
                        </a:lnSpc>
                      </a:pPr>
                      <a:r>
                        <a:rPr sz="1800"/>
                        <a:t>0.012</a:t>
                      </a:r>
                      <a:endParaRPr sz="1800"/>
                    </a:p>
                  </a:txBody>
                  <a:tcPr marL="0" marR="0" marT="0" marB="0" anchor="ctr" anchorCtr="0"/>
                </a:tc>
              </a:tr>
              <a:tr h="636270">
                <a:tc>
                  <a:txBody>
                    <a:bodyPr/>
                    <a:p>
                      <a:pPr algn="ctr">
                        <a:lnSpc>
                          <a:spcPct val="100000"/>
                        </a:lnSpc>
                      </a:pPr>
                      <a:r>
                        <a:rPr sz="1800" b="1"/>
                        <a:t>Adaptive CNN (Orientation)</a:t>
                      </a:r>
                      <a:endParaRPr sz="1800" b="1"/>
                    </a:p>
                  </a:txBody>
                  <a:tcPr marL="0" marR="0" marT="0" marB="0" anchor="ctr" anchorCtr="0"/>
                </a:tc>
                <a:tc>
                  <a:txBody>
                    <a:bodyPr/>
                    <a:p>
                      <a:pPr algn="ctr">
                        <a:lnSpc>
                          <a:spcPct val="100000"/>
                        </a:lnSpc>
                      </a:pPr>
                      <a:r>
                        <a:rPr sz="1800"/>
                        <a:t>0.50</a:t>
                      </a:r>
                      <a:endParaRPr sz="1800"/>
                    </a:p>
                  </a:txBody>
                  <a:tcPr marL="0" marR="0" marT="0" marB="0" anchor="ctr" anchorCtr="0"/>
                </a:tc>
              </a:tr>
              <a:tr h="637540">
                <a:tc>
                  <a:txBody>
                    <a:bodyPr/>
                    <a:p>
                      <a:pPr algn="ctr">
                        <a:lnSpc>
                          <a:spcPct val="100000"/>
                        </a:lnSpc>
                      </a:pPr>
                      <a:r>
                        <a:rPr sz="1800" b="1"/>
                        <a:t>Adaptive CNN (Frequency)</a:t>
                      </a:r>
                      <a:endParaRPr sz="1800" b="1"/>
                    </a:p>
                  </a:txBody>
                  <a:tcPr marL="0" marR="0" marT="0" marB="0" anchor="ctr" anchorCtr="0"/>
                </a:tc>
                <a:tc>
                  <a:txBody>
                    <a:bodyPr/>
                    <a:p>
                      <a:pPr algn="ctr">
                        <a:lnSpc>
                          <a:spcPct val="100000"/>
                        </a:lnSpc>
                      </a:pPr>
                      <a:r>
                        <a:rPr sz="1800"/>
                        <a:t>0.22</a:t>
                      </a:r>
                      <a:endParaRPr sz="1800"/>
                    </a:p>
                  </a:txBody>
                  <a:tcPr marL="0" marR="0" marT="0" marB="0" anchor="ctr" anchorCtr="0"/>
                </a:tc>
              </a:tr>
              <a:tr h="636270">
                <a:tc>
                  <a:txBody>
                    <a:bodyPr/>
                    <a:p>
                      <a:pPr algn="ctr">
                        <a:lnSpc>
                          <a:spcPct val="100000"/>
                        </a:lnSpc>
                      </a:pPr>
                      <a:r>
                        <a:rPr sz="1800"/>
                        <a:t>Orientation Vector Model</a:t>
                      </a:r>
                      <a:endParaRPr sz="1800"/>
                    </a:p>
                  </a:txBody>
                  <a:tcPr marL="0" marR="0" marT="0" marB="0" anchor="ctr" anchorCtr="0"/>
                </a:tc>
                <a:tc>
                  <a:txBody>
                    <a:bodyPr/>
                    <a:p>
                      <a:pPr algn="ctr">
                        <a:lnSpc>
                          <a:spcPct val="100000"/>
                        </a:lnSpc>
                      </a:pPr>
                      <a:r>
                        <a:rPr sz="1800"/>
                        <a:t>0.35</a:t>
                      </a:r>
                      <a:endParaRPr sz="1800"/>
                    </a:p>
                  </a:txBody>
                  <a:tcPr marL="0" marR="0" marT="0" marB="0" anchor="ctr" anchorCtr="0"/>
                </a:tc>
              </a:tr>
              <a:tr h="793750">
                <a:tc>
                  <a:txBody>
                    <a:bodyPr/>
                    <a:p>
                      <a:pPr algn="ctr">
                        <a:lnSpc>
                          <a:spcPct val="100000"/>
                        </a:lnSpc>
                      </a:pPr>
                      <a:r>
                        <a:rPr sz="1800"/>
                        <a:t>Frequency Regression Model</a:t>
                      </a:r>
                      <a:endParaRPr sz="1800"/>
                    </a:p>
                  </a:txBody>
                  <a:tcPr marL="0" marR="0" marT="0" marB="0" anchor="ctr" anchorCtr="0"/>
                </a:tc>
                <a:tc>
                  <a:txBody>
                    <a:bodyPr/>
                    <a:p>
                      <a:pPr algn="ctr">
                        <a:lnSpc>
                          <a:spcPct val="100000"/>
                        </a:lnSpc>
                      </a:pPr>
                      <a:r>
                        <a:rPr sz="1800"/>
                        <a:t>0.80</a:t>
                      </a:r>
                      <a:endParaRPr sz="1800"/>
                    </a:p>
                  </a:txBody>
                  <a:tcPr marL="0" marR="0" marT="0" marB="0" anchor="ctr" anchorCtr="0"/>
                </a:tc>
              </a:tr>
              <a:tr h="555625">
                <a:tc>
                  <a:txBody>
                    <a:bodyPr/>
                    <a:p>
                      <a:pPr algn="ctr">
                        <a:lnSpc>
                          <a:spcPct val="100000"/>
                        </a:lnSpc>
                      </a:pPr>
                      <a:r>
                        <a:rPr sz="1800"/>
                        <a:t>CNN Classifier</a:t>
                      </a:r>
                      <a:endParaRPr sz="1800"/>
                    </a:p>
                  </a:txBody>
                  <a:tcPr marL="0" marR="0" marT="0" marB="0" anchor="ctr" anchorCtr="0"/>
                </a:tc>
                <a:tc>
                  <a:txBody>
                    <a:bodyPr/>
                    <a:p>
                      <a:pPr algn="ctr">
                        <a:lnSpc>
                          <a:spcPct val="100000"/>
                        </a:lnSpc>
                      </a:pPr>
                      <a:r>
                        <a:rPr sz="1800"/>
                        <a:t>0.37</a:t>
                      </a:r>
                      <a:endParaRPr sz="1800"/>
                    </a:p>
                  </a:txBody>
                  <a:tcPr marL="0" marR="0" marT="0" marB="0" anchor="ctr" anchorCtr="0"/>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735564" y="1259867"/>
            <a:ext cx="10515600" cy="4999741"/>
          </a:xfrm>
        </p:spPr>
        <p:txBody>
          <a:bodyPr>
            <a:noAutofit/>
          </a:bodyPr>
          <a:lstStyle/>
          <a:p>
            <a:pPr marL="285750" indent="-285750">
              <a:lnSpc>
                <a:spcPct val="150000"/>
              </a:lnSpc>
              <a:buClrTx/>
              <a:buFont typeface="Wingdings" panose="05000000000000000000" charset="0"/>
              <a:buChar char="v"/>
            </a:pPr>
            <a:r>
              <a:rPr lang="en-US" altLang="en-US" sz="2000" dirty="0">
                <a:latin typeface="Times New Roman" panose="02020603050405020304" pitchFamily="18" charset="0"/>
                <a:ea typeface="Arial" panose="020B0604020202020204"/>
                <a:cs typeface="Times New Roman" panose="02020603050405020304" pitchFamily="18" charset="0"/>
                <a:sym typeface="+mn-ea"/>
              </a:rPr>
              <a:t>Proposed Adaptive CNN model accurately estimates ridge orientation and frequency.</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a:lnSpc>
                <a:spcPct val="150000"/>
              </a:lnSpc>
              <a:buClrTx/>
              <a:buFont typeface="Wingdings" panose="05000000000000000000" pitchFamily="2" charset="2"/>
              <a:buChar char="v"/>
            </a:pPr>
            <a:r>
              <a:rPr lang="en-US" altLang="en-US" sz="2000" dirty="0">
                <a:latin typeface="Times New Roman" panose="02020603050405020304" pitchFamily="18" charset="0"/>
                <a:ea typeface="Arial" panose="020B0604020202020204"/>
                <a:cs typeface="Times New Roman" panose="02020603050405020304" pitchFamily="18" charset="0"/>
                <a:sym typeface="+mn-ea"/>
              </a:rPr>
              <a:t>XSFFE and SNFFE preprocessing improved ridge clarity and reduced noise.</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a:lnSpc>
                <a:spcPct val="150000"/>
              </a:lnSpc>
              <a:buClrTx/>
              <a:buFont typeface="Wingdings" panose="05000000000000000000" pitchFamily="2" charset="2"/>
              <a:buChar char="v"/>
            </a:pPr>
            <a:r>
              <a:rPr lang="en-US" altLang="en-US" sz="2000" dirty="0">
                <a:latin typeface="Times New Roman" panose="02020603050405020304" pitchFamily="18" charset="0"/>
                <a:ea typeface="Arial" panose="020B0604020202020204"/>
                <a:cs typeface="Times New Roman" panose="02020603050405020304" pitchFamily="18" charset="0"/>
                <a:sym typeface="+mn-ea"/>
              </a:rPr>
              <a:t>Achieved high accuracy (MAPE 4.58%) and real-time performance (0.012 s).</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a:lnSpc>
                <a:spcPct val="150000"/>
              </a:lnSpc>
              <a:buClrTx/>
              <a:buFont typeface="Wingdings" panose="05000000000000000000" pitchFamily="2" charset="2"/>
              <a:buChar char="v"/>
            </a:pPr>
            <a:r>
              <a:rPr lang="en-US" altLang="en-US" sz="2000" dirty="0">
                <a:latin typeface="Times New Roman" panose="02020603050405020304" pitchFamily="18" charset="0"/>
                <a:ea typeface="Arial" panose="020B0604020202020204"/>
                <a:cs typeface="Times New Roman" panose="02020603050405020304" pitchFamily="18" charset="0"/>
                <a:sym typeface="+mn-ea"/>
              </a:rPr>
              <a:t>Model shows strong robustness to smudges, distortions, and low contrast.</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a:lnSpc>
                <a:spcPct val="150000"/>
              </a:lnSpc>
              <a:buClrTx/>
              <a:buFont typeface="Wingdings" panose="05000000000000000000" pitchFamily="2" charset="2"/>
              <a:buChar char="v"/>
            </a:pPr>
            <a:r>
              <a:rPr lang="en-US" altLang="en-US" sz="2000" b="1" dirty="0">
                <a:latin typeface="Times New Roman" panose="02020603050405020304" pitchFamily="18" charset="0"/>
                <a:ea typeface="Arial" panose="020B0604020202020204"/>
                <a:cs typeface="Times New Roman" panose="02020603050405020304" pitchFamily="18" charset="0"/>
                <a:sym typeface="+mn-ea"/>
              </a:rPr>
              <a:t>Future Scope:</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0" indent="0">
              <a:lnSpc>
                <a:spcPct val="150000"/>
              </a:lnSpc>
              <a:buClrTx/>
              <a:buFont typeface="Wingdings" panose="05000000000000000000" pitchFamily="2" charset="2"/>
              <a:buNone/>
            </a:pPr>
            <a:r>
              <a:rPr lang="en-IN" altLang="en-US" sz="2000" dirty="0">
                <a:latin typeface="Times New Roman" panose="02020603050405020304" pitchFamily="18" charset="0"/>
                <a:ea typeface="Arial" panose="020B0604020202020204"/>
                <a:cs typeface="Times New Roman" panose="02020603050405020304" pitchFamily="18" charset="0"/>
                <a:sym typeface="+mn-ea"/>
              </a:rPr>
              <a:t>              -</a:t>
            </a:r>
            <a:r>
              <a:rPr lang="en-US" altLang="en-US" sz="2000" dirty="0">
                <a:latin typeface="Times New Roman" panose="02020603050405020304" pitchFamily="18" charset="0"/>
                <a:ea typeface="Arial" panose="020B0604020202020204"/>
                <a:cs typeface="Times New Roman" panose="02020603050405020304" pitchFamily="18" charset="0"/>
                <a:sym typeface="+mn-ea"/>
              </a:rPr>
              <a:t>Integrate into complete fingerprint recognition systems.</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0" indent="0">
              <a:lnSpc>
                <a:spcPct val="150000"/>
              </a:lnSpc>
              <a:buClrTx/>
              <a:buFont typeface="Wingdings" panose="05000000000000000000" pitchFamily="2" charset="2"/>
              <a:buNone/>
            </a:pPr>
            <a:r>
              <a:rPr lang="en-IN" altLang="en-US" sz="2000" dirty="0">
                <a:latin typeface="Times New Roman" panose="02020603050405020304" pitchFamily="18" charset="0"/>
                <a:ea typeface="Arial" panose="020B0604020202020204"/>
                <a:cs typeface="Times New Roman" panose="02020603050405020304" pitchFamily="18" charset="0"/>
                <a:sym typeface="+mn-ea"/>
              </a:rPr>
              <a:t>              -</a:t>
            </a:r>
            <a:r>
              <a:rPr lang="en-US" altLang="en-US" sz="2000" dirty="0">
                <a:latin typeface="Times New Roman" panose="02020603050405020304" pitchFamily="18" charset="0"/>
                <a:ea typeface="Arial" panose="020B0604020202020204"/>
                <a:cs typeface="Times New Roman" panose="02020603050405020304" pitchFamily="18" charset="0"/>
                <a:sym typeface="+mn-ea"/>
              </a:rPr>
              <a:t>Test on multiple datasets and sensors for broader validation.</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0" indent="0">
              <a:lnSpc>
                <a:spcPct val="150000"/>
              </a:lnSpc>
              <a:buClrTx/>
              <a:buFont typeface="Wingdings" panose="05000000000000000000" pitchFamily="2" charset="2"/>
              <a:buNone/>
            </a:pPr>
            <a:r>
              <a:rPr lang="en-IN" altLang="en-US" sz="2000" dirty="0">
                <a:latin typeface="Times New Roman" panose="02020603050405020304" pitchFamily="18" charset="0"/>
                <a:ea typeface="Arial" panose="020B0604020202020204"/>
                <a:cs typeface="Times New Roman" panose="02020603050405020304" pitchFamily="18" charset="0"/>
                <a:sym typeface="+mn-ea"/>
              </a:rPr>
              <a:t>             -</a:t>
            </a:r>
            <a:r>
              <a:rPr lang="en-US" altLang="en-US" sz="2000" dirty="0">
                <a:latin typeface="Times New Roman" panose="02020603050405020304" pitchFamily="18" charset="0"/>
                <a:ea typeface="Arial" panose="020B0604020202020204"/>
                <a:cs typeface="Times New Roman" panose="02020603050405020304" pitchFamily="18" charset="0"/>
                <a:sym typeface="+mn-ea"/>
              </a:rPr>
              <a:t>Add adversarial robustness against spoofing attacks.</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0" indent="0">
              <a:lnSpc>
                <a:spcPct val="150000"/>
              </a:lnSpc>
              <a:buClrTx/>
              <a:buFont typeface="Wingdings" panose="05000000000000000000" pitchFamily="2" charset="2"/>
              <a:buNone/>
            </a:pPr>
            <a:r>
              <a:rPr lang="en-IN" altLang="en-US" sz="2000" dirty="0">
                <a:latin typeface="Times New Roman" panose="02020603050405020304" pitchFamily="18" charset="0"/>
                <a:ea typeface="Arial" panose="020B0604020202020204"/>
                <a:cs typeface="Times New Roman" panose="02020603050405020304" pitchFamily="18" charset="0"/>
                <a:sym typeface="+mn-ea"/>
              </a:rPr>
              <a:t>             </a:t>
            </a:r>
            <a:endParaRPr lang="en-US" altLang="en-US" sz="2000" dirty="0">
              <a:latin typeface="Times New Roman" panose="02020603050405020304" pitchFamily="18" charset="0"/>
              <a:ea typeface="Arial" panose="020B0604020202020204"/>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No.2         Batch No.</a:t>
            </a:r>
            <a:r>
              <a:rPr lang="en-IN" altLang="en-US">
                <a:latin typeface="Times New Roman" panose="02020603050405020304" pitchFamily="18" charset="0"/>
                <a:cs typeface="Times New Roman" panose="02020603050405020304" pitchFamily="18" charset="0"/>
              </a:rPr>
              <a:t>DB1</a:t>
            </a:r>
            <a:r>
              <a:rPr lang="en-US">
                <a:latin typeface="Times New Roman" panose="02020603050405020304" pitchFamily="18" charset="0"/>
                <a:cs typeface="Times New Roman" panose="02020603050405020304" pitchFamily="18" charset="0"/>
              </a:rPr>
              <a:t>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744894" y="1253330"/>
            <a:ext cx="10515600" cy="5103019"/>
          </a:xfrm>
        </p:spPr>
        <p:txBody>
          <a:bodyPr>
            <a:noAutofit/>
          </a:bodyPr>
          <a:lstStyle/>
          <a:p>
            <a:pPr marL="0" indent="0">
              <a:buNone/>
            </a:pPr>
            <a:r>
              <a:rPr lang="en-IN" altLang="en-US" sz="1700" dirty="0">
                <a:latin typeface="Times New Roman" panose="02020603050405020304" pitchFamily="18" charset="0"/>
                <a:cs typeface="Times New Roman" panose="02020603050405020304" pitchFamily="18" charset="0"/>
              </a:rPr>
              <a:t>[</a:t>
            </a:r>
            <a:r>
              <a:rPr lang="en-US" altLang="en-US" sz="1700" dirty="0">
                <a:latin typeface="Times New Roman" panose="02020603050405020304" pitchFamily="18" charset="0"/>
                <a:cs typeface="Times New Roman" panose="02020603050405020304" pitchFamily="18" charset="0"/>
              </a:rPr>
              <a:t>1] L. Ji et al., “Fingerprint Orientation Field Estimation Using Ridge</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Projection,” Pattern Recognition, vol. 41, no. 7, </a:t>
            </a:r>
            <a:r>
              <a:rPr lang="en-IN" altLang="en-US" sz="1700" dirty="0">
                <a:latin typeface="Times New Roman" panose="02020603050405020304" pitchFamily="18" charset="0"/>
                <a:cs typeface="Times New Roman" panose="02020603050405020304" pitchFamily="18" charset="0"/>
              </a:rPr>
              <a:t>       </a:t>
            </a:r>
            <a:endParaRPr lang="en-IN" altLang="en-US" sz="1700" dirty="0">
              <a:latin typeface="Times New Roman" panose="02020603050405020304" pitchFamily="18" charset="0"/>
              <a:cs typeface="Times New Roman" panose="02020603050405020304" pitchFamily="18" charset="0"/>
            </a:endParaRPr>
          </a:p>
          <a:p>
            <a:pPr marL="0" indent="0">
              <a:buNone/>
            </a:pP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pp. 1491–1500, 2008,</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doi:10.1016/j.patcog.2007.09.003.</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[2] C. Gottschlich et al., “Curved Gabor Filters for Fingerprint Image En_x0002_hancement,” IEEE Trans. Image Process.,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vol. 21, no. 4, pp. 2220–2232,</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2012, doi:10.48550/arXiv.1104.4298</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[3] M. Ghafoor et al., “Fingerprint Frequency Normalisation and Enhance_x0002_ment Using 2D Short-Time Fourier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Transform Analysis,” IET Computer</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Vision, vol. 10, no. 5, 2016.</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[4] S. Malathi et al., “Fingerprint Enhancement Based on Ridge Orientation</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and Ridge Frequency” Biometrics &amp;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Bioinformatics, vol. 4, no. 2, 2020.</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[5] J. Xu et al., “A New Path to Construct Parametric Orientation</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Field: Sparse FOMFE Model and Compressed Sparse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FOMFE Model”</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doi:10.48551/arXiv:1407.0342, 2014.</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[6] A. Takahashi et al., “Fingerprint Feature Extraction by Combining</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Texture, Minutiae, and Frequency Spectrum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Using Multi-Task CNN,”</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doi:10.55841/arXiv:2008.11917, 2020.</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[7] C. Chinnappan et al., “Fingerprint Recognition Technology Using Deep</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Learning: A Review,” SSRN Electronic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Journal, vol. 9, pp. 4647–4663,</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Jan. 2021.</a:t>
            </a:r>
            <a:endParaRPr lang="en-US" altLang="en-US" sz="1700" dirty="0">
              <a:latin typeface="Times New Roman" panose="02020603050405020304" pitchFamily="18" charset="0"/>
              <a:cs typeface="Times New Roman" panose="02020603050405020304" pitchFamily="18" charset="0"/>
            </a:endParaRPr>
          </a:p>
          <a:p>
            <a:pPr marL="0" indent="0">
              <a:buNone/>
            </a:pPr>
            <a:endParaRPr lang="en-US" altLang="en-US" sz="17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endParaRPr lang="en-IN" altLang="en-US" dirty="0">
              <a:latin typeface="Times New Roman" panose="02020603050405020304" pitchFamily="18" charset="0"/>
              <a:cs typeface="Times New Roman" panose="02020603050405020304" pitchFamily="18" charset="0"/>
              <a:sym typeface="+mn-ea"/>
            </a:endParaRPr>
          </a:p>
          <a:p>
            <a:r>
              <a:rPr lang="en-IN" altLang="en-US" dirty="0">
                <a:latin typeface="Times New Roman" panose="02020603050405020304" pitchFamily="18" charset="0"/>
                <a:cs typeface="Times New Roman" panose="02020603050405020304" pitchFamily="18" charset="0"/>
                <a:sym typeface="+mn-ea"/>
              </a:rPr>
              <a:t>10/11/2025</a:t>
            </a:r>
            <a:endParaRPr lang="en-IN" altLang="en-US" dirty="0">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a:t>
            </a:r>
            <a:r>
              <a:rPr lang="en-IN" altLang="en-US">
                <a:latin typeface="Times New Roman" panose="02020603050405020304" pitchFamily="18" charset="0"/>
                <a:cs typeface="Times New Roman" panose="02020603050405020304" pitchFamily="18" charset="0"/>
              </a:rPr>
              <a:t>2</a:t>
            </a:r>
            <a:r>
              <a:rPr lang="en-US">
                <a:latin typeface="Times New Roman" panose="02020603050405020304" pitchFamily="18" charset="0"/>
                <a:cs typeface="Times New Roman" panose="02020603050405020304" pitchFamily="18" charset="0"/>
              </a:rPr>
              <a:t>       Batch No. </a:t>
            </a:r>
            <a:r>
              <a:rPr lang="en-IN" altLang="en-US">
                <a:latin typeface="Times New Roman" panose="02020603050405020304" pitchFamily="18" charset="0"/>
                <a:cs typeface="Times New Roman" panose="02020603050405020304" pitchFamily="18" charset="0"/>
              </a:rPr>
              <a:t>DB1</a:t>
            </a:r>
            <a:r>
              <a:rPr lang="en-US">
                <a:latin typeface="Times New Roman" panose="02020603050405020304" pitchFamily="18" charset="0"/>
                <a:cs typeface="Times New Roman" panose="02020603050405020304" pitchFamily="18" charset="0"/>
              </a:rPr>
              <a:t>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US" b="1"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665480" y="1253490"/>
            <a:ext cx="10594975" cy="5102225"/>
          </a:xfrm>
        </p:spPr>
        <p:txBody>
          <a:bodyPr>
            <a:noAutofit/>
          </a:bodyPr>
          <a:lstStyle/>
          <a:p>
            <a:pPr marL="0" indent="0">
              <a:buNone/>
            </a:pPr>
            <a:r>
              <a:rPr lang="en-IN" altLang="en-US" sz="1700" dirty="0">
                <a:latin typeface="Times New Roman" panose="02020603050405020304" pitchFamily="18" charset="0"/>
                <a:cs typeface="Times New Roman" panose="02020603050405020304" pitchFamily="18" charset="0"/>
              </a:rPr>
              <a:t>[</a:t>
            </a:r>
            <a:r>
              <a:rPr lang="en-US" altLang="en-US" sz="1700" dirty="0">
                <a:latin typeface="Times New Roman" panose="02020603050405020304" pitchFamily="18" charset="0"/>
                <a:cs typeface="Times New Roman" panose="02020603050405020304" pitchFamily="18" charset="0"/>
              </a:rPr>
              <a:t>8] R. Cappelli et al., “No Feature Left Behind: Filling the Gap in Finger_x0002_print Frequency Estimation,” IEEE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Access,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vol. 12, pp. 153605–153617,</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2024, doi: 10.1109/ACCESS.2024.3481507.</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[9] E. Alibeigi et al., “Real-Time Ridge Orientation Estimation for</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Fingerprint Images” arXiv preprint,</a:t>
            </a:r>
            <a:r>
              <a:rPr lang="en-IN" altLang="en-US" sz="1700" dirty="0">
                <a:latin typeface="Times New Roman" panose="02020603050405020304" pitchFamily="18" charset="0"/>
                <a:cs typeface="Times New Roman" panose="02020603050405020304" pitchFamily="18" charset="0"/>
              </a:rPr>
              <a:t> </a:t>
            </a:r>
            <a:endParaRPr lang="en-IN" altLang="en-US" sz="1700" dirty="0">
              <a:latin typeface="Times New Roman" panose="02020603050405020304" pitchFamily="18" charset="0"/>
              <a:cs typeface="Times New Roman" panose="02020603050405020304" pitchFamily="18" charset="0"/>
            </a:endParaRPr>
          </a:p>
          <a:p>
            <a:pPr marL="0" indent="0">
              <a:buNone/>
            </a:pP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arXiv:1710.05027, 2017,</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doi:10.48550/arXiv.1710.05027</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[10] L. Hong, Y. Wan, and A. Jain, “Fingerprint Image Enhancement:</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Algorithm and Performance Evaluation,” IEEE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Trans. Pattern Anal.</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Mach. Intell., vol. 20, no. 8, pp. 777–789, 1998.</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[11] R. Cappelli, D. Maio, D. Maltoni, J. Wayman, and A. Jain, “Performance</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Evaluation of Fingerprint Verification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Systems,” IEEE Trans. Pattern</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Anal. Mach. Intell., vol. 28, no. 1, pp. 3–18, 2006.</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[12] A. Jain, L. Hong, and R. Bolle, “On-line Fingerprint Verification,” IEEE</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Trans. Pattern Anal. Mach. Intell., vol. 19,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no. 4, pp. 302–314, 1997.</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[13] K. Cao, Y. Chen, J. Zhou, and R. Wang, “Deep Learning for Fingerprint</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Recognition: A Survey,” arXiv preprint, </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 </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doi:1905.02677, 2019.</a:t>
            </a:r>
            <a:endParaRPr lang="en-US" altLang="en-US" sz="1700" dirty="0">
              <a:latin typeface="Times New Roman" panose="02020603050405020304" pitchFamily="18" charset="0"/>
              <a:cs typeface="Times New Roman" panose="02020603050405020304" pitchFamily="18" charset="0"/>
            </a:endParaRPr>
          </a:p>
          <a:p>
            <a:pPr marL="0" indent="0">
              <a:buNone/>
            </a:pPr>
            <a:r>
              <a:rPr lang="en-US" altLang="en-US" sz="1700" dirty="0">
                <a:latin typeface="Times New Roman" panose="02020603050405020304" pitchFamily="18" charset="0"/>
                <a:cs typeface="Times New Roman" panose="02020603050405020304" pitchFamily="18" charset="0"/>
              </a:rPr>
              <a:t>[14] M. Hussain, R. Asghar, S. Anwar, and T. M. Anwar, “Deep Convo_x0002_lutional Neural Network for Fingerprint </a:t>
            </a:r>
            <a:r>
              <a:rPr lang="en-IN" altLang="en-US" sz="1700" dirty="0">
                <a:latin typeface="Times New Roman" panose="02020603050405020304" pitchFamily="18" charset="0"/>
                <a:cs typeface="Times New Roman" panose="02020603050405020304" pitchFamily="18" charset="0"/>
              </a:rPr>
              <a:t>  </a:t>
            </a:r>
            <a:endParaRPr lang="en-IN" altLang="en-US" sz="1700" dirty="0">
              <a:latin typeface="Times New Roman" panose="02020603050405020304" pitchFamily="18" charset="0"/>
              <a:cs typeface="Times New Roman" panose="02020603050405020304" pitchFamily="18" charset="0"/>
            </a:endParaRPr>
          </a:p>
          <a:p>
            <a:pPr marL="0" indent="0">
              <a:buNone/>
            </a:pP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Image</a:t>
            </a:r>
            <a:r>
              <a:rPr lang="en-IN" altLang="en-US" sz="1700" dirty="0">
                <a:latin typeface="Times New Roman" panose="02020603050405020304" pitchFamily="18" charset="0"/>
                <a:cs typeface="Times New Roman" panose="02020603050405020304" pitchFamily="18" charset="0"/>
              </a:rPr>
              <a:t>  </a:t>
            </a:r>
            <a:r>
              <a:rPr lang="en-US" altLang="en-US" sz="1700" dirty="0">
                <a:latin typeface="Times New Roman" panose="02020603050405020304" pitchFamily="18" charset="0"/>
                <a:cs typeface="Times New Roman" panose="02020603050405020304" pitchFamily="18" charset="0"/>
              </a:rPr>
              <a:t>Enhancement” Interna_x0002_tional Journal of Advanced Computer Science and Applications, </a:t>
            </a:r>
            <a:endParaRPr lang="en-US" altLang="en-US" sz="17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2" name="Text Box 1"/>
          <p:cNvSpPr txBox="1"/>
          <p:nvPr/>
        </p:nvSpPr>
        <p:spPr>
          <a:xfrm>
            <a:off x="798195" y="6356350"/>
            <a:ext cx="1889125" cy="460375"/>
          </a:xfrm>
          <a:prstGeom prst="rect">
            <a:avLst/>
          </a:prstGeom>
          <a:noFill/>
        </p:spPr>
        <p:txBody>
          <a:bodyPr wrap="square" rtlCol="0">
            <a:spAutoFit/>
          </a:bodyPr>
          <a:p>
            <a:r>
              <a:rPr lang="en-IN" altLang="en-US" sz="1200" dirty="0">
                <a:latin typeface="Times New Roman" panose="02020603050405020304" pitchFamily="18" charset="0"/>
                <a:cs typeface="Times New Roman" panose="02020603050405020304" pitchFamily="18" charset="0"/>
                <a:sym typeface="+mn-ea"/>
              </a:rPr>
              <a:t>10/11/2025</a:t>
            </a:r>
            <a:endParaRPr lang="en-IN" altLang="en-US" sz="1200" dirty="0">
              <a:latin typeface="Times New Roman" panose="02020603050405020304" pitchFamily="18" charset="0"/>
              <a:cs typeface="Times New Roman" panose="02020603050405020304" pitchFamily="18" charset="0"/>
            </a:endParaRPr>
          </a:p>
          <a:p>
            <a:endParaRPr lang="en-US" sz="1200"/>
          </a:p>
        </p:txBody>
      </p:sp>
      <p:sp>
        <p:nvSpPr>
          <p:cNvPr id="3" name="Text Box 2"/>
          <p:cNvSpPr txBox="1"/>
          <p:nvPr/>
        </p:nvSpPr>
        <p:spPr>
          <a:xfrm>
            <a:off x="4546600" y="6353175"/>
            <a:ext cx="4064000" cy="275590"/>
          </a:xfrm>
          <a:prstGeom prst="rect">
            <a:avLst/>
          </a:prstGeom>
          <a:noFill/>
        </p:spPr>
        <p:txBody>
          <a:bodyPr wrap="square" rtlCol="0">
            <a:spAutoFit/>
          </a:bodyPr>
          <a:p>
            <a:r>
              <a:rPr lang="en-US" sz="1200">
                <a:latin typeface="Times New Roman" panose="02020603050405020304" pitchFamily="18" charset="0"/>
                <a:cs typeface="Times New Roman" panose="02020603050405020304" pitchFamily="18" charset="0"/>
                <a:sym typeface="+mn-ea"/>
              </a:rPr>
              <a:t>Review No. </a:t>
            </a:r>
            <a:r>
              <a:rPr lang="en-IN" altLang="en-US" sz="1200">
                <a:latin typeface="Times New Roman" panose="02020603050405020304" pitchFamily="18" charset="0"/>
                <a:cs typeface="Times New Roman" panose="02020603050405020304" pitchFamily="18" charset="0"/>
                <a:sym typeface="+mn-ea"/>
              </a:rPr>
              <a:t>2</a:t>
            </a:r>
            <a:r>
              <a:rPr lang="en-US" sz="1200">
                <a:latin typeface="Times New Roman" panose="02020603050405020304" pitchFamily="18" charset="0"/>
                <a:cs typeface="Times New Roman" panose="02020603050405020304" pitchFamily="18" charset="0"/>
                <a:sym typeface="+mn-ea"/>
              </a:rPr>
              <a:t>       Batch No. </a:t>
            </a:r>
            <a:r>
              <a:rPr lang="en-IN" altLang="en-US" sz="1200">
                <a:latin typeface="Times New Roman" panose="02020603050405020304" pitchFamily="18" charset="0"/>
                <a:cs typeface="Times New Roman" panose="02020603050405020304" pitchFamily="18" charset="0"/>
                <a:sym typeface="+mn-ea"/>
              </a:rPr>
              <a:t>DB1</a:t>
            </a:r>
            <a:r>
              <a:rPr lang="en-US" sz="1200">
                <a:latin typeface="Times New Roman" panose="02020603050405020304" pitchFamily="18" charset="0"/>
                <a:cs typeface="Times New Roman" panose="02020603050405020304" pitchFamily="18" charset="0"/>
                <a:sym typeface="+mn-ea"/>
              </a:rPr>
              <a:t>          Department of CSE</a:t>
            </a:r>
            <a:endParaRPr lang="en-US"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IN" altLang="en-US">
                <a:latin typeface="Times New Roman" panose="02020603050405020304" pitchFamily="18" charset="0"/>
                <a:cs typeface="Times New Roman" panose="02020603050405020304" pitchFamily="18" charset="0"/>
              </a:rPr>
              <a:t>10/11/2025</a:t>
            </a:r>
            <a:endParaRPr lang="en-IN" altLang="en-US">
              <a:latin typeface="Times New Roman" panose="02020603050405020304" pitchFamily="18" charset="0"/>
              <a:cs typeface="Times New Roman" panose="02020603050405020304" pitchFamily="18" charset="0"/>
            </a:endParaRPr>
          </a:p>
        </p:txBody>
      </p:sp>
      <p:sp>
        <p:nvSpPr>
          <p:cNvPr id="6" name="Footer Placeholder 5"/>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a:t>
            </a:r>
            <a:r>
              <a:rPr lang="en-IN" altLang="en-US">
                <a:latin typeface="Times New Roman" panose="02020603050405020304" pitchFamily="18" charset="0"/>
                <a:cs typeface="Times New Roman" panose="02020603050405020304" pitchFamily="18" charset="0"/>
              </a:rPr>
              <a:t> 2</a:t>
            </a:r>
            <a:r>
              <a:rPr lang="en-US">
                <a:latin typeface="Times New Roman" panose="02020603050405020304" pitchFamily="18" charset="0"/>
                <a:cs typeface="Times New Roman" panose="02020603050405020304" pitchFamily="18" charset="0"/>
              </a:rPr>
              <a:t>         Batch No.</a:t>
            </a:r>
            <a:r>
              <a:rPr lang="en-IN" altLang="en-US">
                <a:latin typeface="Times New Roman" panose="02020603050405020304" pitchFamily="18" charset="0"/>
                <a:cs typeface="Times New Roman" panose="02020603050405020304" pitchFamily="18" charset="0"/>
              </a:rPr>
              <a:t> DB1</a:t>
            </a:r>
            <a:r>
              <a:rPr lang="en-US">
                <a:latin typeface="Times New Roman" panose="02020603050405020304" pitchFamily="18" charset="0"/>
                <a:cs typeface="Times New Roman" panose="02020603050405020304" pitchFamily="18" charset="0"/>
              </a:rPr>
              <a:t>           Department of CSE</a:t>
            </a:r>
            <a:endParaRPr lang="en-US">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pic>
        <p:nvPicPr>
          <p:cNvPr id="1026" name="Picture 2" descr="Thank You Clipart | Customize Color ..."/>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505060" y="1403903"/>
            <a:ext cx="5676262" cy="38958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p="http://schemas.openxmlformats.org/presentationml/2006/main">
  <p:tag name="TABLE_ENDDRAG_ORIGIN_RECT" val="852*426"/>
  <p:tag name="TABLE_ENDDRAG_RECT" val="54*73*852*426"/>
</p:tagLst>
</file>

<file path=ppt/tags/tag2.xml><?xml version="1.0" encoding="utf-8"?>
<p:tagLst xmlns:p="http://schemas.openxmlformats.org/presentationml/2006/main">
  <p:tag name="TABLE_ENDDRAG_ORIGIN_RECT" val="363*372"/>
  <p:tag name="TABLE_ENDDRAG_RECT" val="85*117*363*372"/>
</p:tagLst>
</file>

<file path=ppt/tags/tag3.xml><?xml version="1.0" encoding="utf-8"?>
<p:tagLst xmlns:p="http://schemas.openxmlformats.org/presentationml/2006/main">
  <p:tag name="TABLE_ENDDRAG_ORIGIN_RECT" val="326*350"/>
  <p:tag name="TABLE_ENDDRAG_RECT" val="516*129*326*35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16273</Words>
  <Application>WPS Presentation</Application>
  <PresentationFormat>Widescreen</PresentationFormat>
  <Paragraphs>643</Paragraphs>
  <Slides>25</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25</vt:i4>
      </vt:variant>
    </vt:vector>
  </HeadingPairs>
  <TitlesOfParts>
    <vt:vector size="37" baseType="lpstr">
      <vt:lpstr>Arial</vt:lpstr>
      <vt:lpstr>SimSun</vt:lpstr>
      <vt:lpstr>Wingdings</vt:lpstr>
      <vt:lpstr>Times New Roman</vt:lpstr>
      <vt:lpstr>Calibri</vt:lpstr>
      <vt:lpstr>Wingdings</vt:lpstr>
      <vt:lpstr>Arial</vt:lpstr>
      <vt:lpstr>Times New Roman</vt:lpstr>
      <vt:lpstr>Microsoft YaHei</vt:lpstr>
      <vt:lpstr>Arial Unicode MS</vt:lpstr>
      <vt:lpstr>Calibri Light</vt:lpstr>
      <vt:lpstr>Office Theme</vt:lpstr>
      <vt:lpstr>PowerPoint 演示文稿</vt:lpstr>
      <vt:lpstr> OUTLINE</vt:lpstr>
      <vt:lpstr>ABSTRACT</vt:lpstr>
      <vt:lpstr>INTRODUCTION</vt:lpstr>
      <vt:lpstr>LITERATURE SURVEY</vt:lpstr>
      <vt:lpstr>RESEARCH GAPS</vt:lpstr>
      <vt:lpstr>PROBLEM STATEMENT</vt:lpstr>
      <vt:lpstr>OBJECTIVES</vt:lpstr>
      <vt:lpstr>BLOCK DIAGRAM OR FLOW DIAGRAM</vt:lpstr>
      <vt:lpstr>METHODOLOGY</vt:lpstr>
      <vt:lpstr>PowerPoint 演示文稿</vt:lpstr>
      <vt:lpstr>PowerPoint 演示文稿</vt:lpstr>
      <vt:lpstr>PowerPoint 演示文稿</vt:lpstr>
      <vt:lpstr>PowerPoint 演示文稿</vt:lpstr>
      <vt:lpstr>PowerPoint 演示文稿</vt:lpstr>
      <vt:lpstr>Fingerprint Web Application Integration:</vt:lpstr>
      <vt:lpstr>PowerPoint 演示文稿</vt:lpstr>
      <vt:lpstr>IMPLEMENTATION </vt:lpstr>
      <vt:lpstr>IMPLEMENTATION </vt:lpstr>
      <vt:lpstr>RESULTS &amp; ANALYSIS</vt:lpstr>
      <vt:lpstr>PowerPoint 演示文稿</vt:lpstr>
      <vt:lpstr>CONCLUSION and FUTURE SCOPE</vt:lpstr>
      <vt:lpstr>REFERENCES</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Atmakuri Jashwanth</cp:lastModifiedBy>
  <cp:revision>43</cp:revision>
  <dcterms:created xsi:type="dcterms:W3CDTF">2023-12-22T11:34:00Z</dcterms:created>
  <dcterms:modified xsi:type="dcterms:W3CDTF">2025-12-05T06:45:25Z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125C8C22D83C4BC08F9A2C936C7148A9_12</vt:lpwstr>
  </property>
  <property fmtid="{D5CDD505-2E9C-101B-9397-08002B2CF9AE}" pid="3" name="KSOProductBuildVer">
    <vt:lpwstr>1033-12.2.0.23155</vt:lpwstr>
  </property>
</Properties>
</file>